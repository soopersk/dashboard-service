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2026 Runtime POD  —  Executive Summary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against Q1/Q2 priorities, key business outcomes, and platform coverage snapshot.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26464"/>
            <a:ext cx="2649474" cy="14813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26464"/>
            <a:ext cx="73152" cy="14813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45920"/>
            <a:ext cx="23385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 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8096" y="2322576"/>
            <a:ext cx="22837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 effort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2706" y="1426464"/>
            <a:ext cx="2649474" cy="14813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Shape 7"/>
          <p:cNvSpPr/>
          <p:nvPr/>
        </p:nvSpPr>
        <p:spPr>
          <a:xfrm>
            <a:off x="3362706" y="1426464"/>
            <a:ext cx="73152" cy="14813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3563874" y="1645920"/>
            <a:ext cx="23385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↑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82162" y="2322576"/>
            <a:ext cx="22837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(AI-enabled)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6772" y="1426464"/>
            <a:ext cx="2649474" cy="14813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176772" y="1426464"/>
            <a:ext cx="73152" cy="14813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6377940" y="1645920"/>
            <a:ext cx="23385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+212% / −51%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96228" y="2322576"/>
            <a:ext cx="22837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/ lead time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(Agile-coach recognised)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90838" y="1426464"/>
            <a:ext cx="2649474" cy="148132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8990838" y="1426464"/>
            <a:ext cx="73152" cy="14813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9192006" y="1645920"/>
            <a:ext cx="233857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210294" y="2322576"/>
            <a:ext cx="22837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critical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closed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63824"/>
            <a:ext cx="110916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163824"/>
            <a:ext cx="73152" cy="914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163824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spc="6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ADOPTION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97480" y="3346704"/>
            <a:ext cx="0" cy="54864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3310128"/>
            <a:ext cx="209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/ [Y]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880360" y="3675888"/>
            <a:ext cx="209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calculators monitored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70348" y="3310128"/>
            <a:ext cx="209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70348" y="3675888"/>
            <a:ext cx="209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onboarded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(LnF, IPV-PnL)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60336" y="3310128"/>
            <a:ext cx="209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60336" y="3675888"/>
            <a:ext cx="209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users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dashboards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450324" y="3310128"/>
            <a:ext cx="209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~[X]%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50324" y="3675888"/>
            <a:ext cx="209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coverage</a:t>
            </a:r>
            <a:endParaRPr lang="en-US" sz="9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(expanding in Q3)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334256"/>
            <a:ext cx="11091672" cy="960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4334256"/>
            <a:ext cx="73152" cy="960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44805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SHIFT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47548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operations 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centralised, observable, intelligence-driven platform — the foundation for proactive operations and continued AI-driven productivity in H2.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8640" y="5404104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priority-by-priority traceability on the following slide.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Q1/Q2 Priorities  —  Delivery, Coverage &amp; Outcomes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from committed priorities to capabilities delivered, coverage achieved, and resulting business impact.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4630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926080" y="146304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CAPABILITY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75120" y="146304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/ ADOPTION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961120" y="14630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11091672" cy="228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188366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88366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intelligence layer; real-time SLA evaluation engine; runtime data capture; AmpliFi automated dashboards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0" y="18836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teams onboarded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[X]/[Y] calculators (~[X]%)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961120" y="1883664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60" kern="0" dirty="0">
                <a:solidFill>
                  <a:srgbClr val="1A8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60–70% ↓ monitoring effort; audit-ready data foundation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11091672" cy="6400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468880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52374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Visibility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Status Monitoring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252374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status capture; SLA compliance tracking; audit history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75120" y="25237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flows covered;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extending in Q3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0" y="2523744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60" kern="0" dirty="0">
                <a:solidFill>
                  <a:srgbClr val="D08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Early risk detection; reduced manual triage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16382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31638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 automated dashboards; Performance Card View; Run1/Run2 comparison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75120" y="31638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 business users adopting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961120" y="3163824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60" kern="0" dirty="0">
                <a:solidFill>
                  <a:srgbClr val="1A8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Self-service insight; faster business decisions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11091672" cy="6400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749040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80390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80390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audit + historical data foundation; structured runtime catalogue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0" y="380390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metadata established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961120" y="3803904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60" kern="0" dirty="0">
                <a:solidFill>
                  <a:srgbClr val="D08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Improved traceability; foundation for Rules Audit in Q3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389120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44398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26080" y="444398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 Airflow platform with tenant isolation, RBAC, autonomous release cycles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75120" y="44439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teams onboarded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(LnF, IPV-PnL)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961120" y="4443984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60" kern="0" dirty="0">
                <a:solidFill>
                  <a:srgbClr val="1A8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Secure, scalable team onboarding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5029200"/>
            <a:ext cx="11091672" cy="6400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5029200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508406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Acceleration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+ Process)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926080" y="508406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adoption + agile process improvements (Agile-coach recognised)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75120" y="50840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Pod-wide adoption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961120" y="5084064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60" kern="0" dirty="0">
                <a:solidFill>
                  <a:srgbClr val="1A8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~20% ↑ velocity  •  +212% throughput  •  −51% lead time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5669280"/>
            <a:ext cx="11091672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572414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Reduction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926080" y="572414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critical vulnerability remediation programme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675120" y="572414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critical items in scope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961120" y="5724144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spc="60" kern="0" dirty="0">
                <a:solidFill>
                  <a:srgbClr val="1A8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Full regulatory compliance baseline; stronger risk posture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8640" y="647395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spc="50" kern="0" dirty="0">
                <a:solidFill>
                  <a:srgbClr val="1A8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pPr indent="0" marL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items completed in H1.   </a:t>
            </a:r>
            <a:pPr indent="0" marL="0">
              <a:buNone/>
            </a:pPr>
            <a:r>
              <a:rPr lang="en-US" sz="950" b="1" i="1" spc="50" kern="0" dirty="0">
                <a:solidFill>
                  <a:srgbClr val="D08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pPr indent="0" marL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items extending into Q3 — see following slide for gap-closing plan.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—  Closing H1 Gaps &amp; Advancing the Roadmap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priorities explicitly mapped to incomplete H1 work and new strategic initiatives.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91672" cy="786384"/>
          </a:xfrm>
          <a:prstGeom prst="rect">
            <a:avLst/>
          </a:prstGeom>
          <a:solidFill>
            <a:srgbClr val="FFF7E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44752"/>
            <a:ext cx="73152" cy="786384"/>
          </a:xfrm>
          <a:prstGeom prst="rect">
            <a:avLst/>
          </a:prstGeom>
          <a:solidFill>
            <a:srgbClr val="D08C0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D08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GAPS IDENTIFIED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visibility </a:t>
            </a:r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(alerting partial)     </a:t>
            </a:r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layer </a:t>
            </a:r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only)     </a:t>
            </a:r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coverage </a:t>
            </a:r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(estate expanding)     </a:t>
            </a:r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</a:t>
            </a:r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(still scaling)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5440680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32304"/>
            <a:ext cx="73152" cy="40599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9689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H1 GAPS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8529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and stabilising incomplete H1 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9536" y="3310128"/>
            <a:ext cx="4983480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SLA Breach Detection &amp; Alerting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9536" y="3691890"/>
            <a:ext cx="4983480" cy="3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08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→ Service visibility gap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22960" y="4055364"/>
            <a:ext cx="4892040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073652"/>
            <a:ext cx="4983480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Audit Integration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59536" y="4455414"/>
            <a:ext cx="4983480" cy="3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08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→ Catalogue / metadata gap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4818888"/>
            <a:ext cx="4892040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4837176"/>
            <a:ext cx="4983480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V2 + LnF Dashboard Enhancements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9536" y="5218938"/>
            <a:ext cx="4983480" cy="3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08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→ Estate coverage gap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5582412"/>
            <a:ext cx="4892040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5600700"/>
            <a:ext cx="4983480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Tenant-specific entitlements + adoption support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9536" y="5982462"/>
            <a:ext cx="4983480" cy="3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i="1" dirty="0">
                <a:solidFill>
                  <a:srgbClr val="D08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→ Platform adoption gap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9632" y="2432304"/>
            <a:ext cx="5440680" cy="405993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2432304"/>
            <a:ext cx="73152" cy="405993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259689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6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THE PLATFORM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73952" y="28529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strategic initiatives launching in Q3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10528" y="3310128"/>
            <a:ext cx="4983480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SLA Redesign + Attribution Engine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510528" y="3691890"/>
            <a:ext cx="4983480" cy="3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SLA framework with clear ownership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73952" y="4055364"/>
            <a:ext cx="4892040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4073652"/>
            <a:ext cx="4983480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+ Cairo Integration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10528" y="4455414"/>
            <a:ext cx="4983480" cy="3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optimisation; IPV app replacement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73952" y="4818888"/>
            <a:ext cx="4892040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4837176"/>
            <a:ext cx="4983480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Tuning + Multi-tenant Release Framework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10528" y="5218938"/>
            <a:ext cx="4983480" cy="3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multi-team release management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73952" y="5582412"/>
            <a:ext cx="4892040" cy="0"/>
          </a:xfrm>
          <a:prstGeom prst="line">
            <a:avLst/>
          </a:prstGeom>
          <a:noFill/>
          <a:ln w="6350">
            <a:solidFill>
              <a:srgbClr val="D7D7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5600700"/>
            <a:ext cx="4983480" cy="381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v14 → v17  +  ongoing VM15 remediation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510528" y="5982462"/>
            <a:ext cx="4983480" cy="320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modernisation &amp; sustained compliance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65836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outcome: proactive observability, scalable multi-tenant operations, and sustained AI-driven delivery efficiency.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 2026 Runtime POD Review</dc:title>
  <dc:subject>PptxGenJS Presentation</dc:subject>
  <dc:creator>Runtime POD</dc:creator>
  <cp:lastModifiedBy>Runtime POD</cp:lastModifiedBy>
  <cp:revision>1</cp:revision>
  <dcterms:created xsi:type="dcterms:W3CDTF">2026-06-28T05:34:36Z</dcterms:created>
  <dcterms:modified xsi:type="dcterms:W3CDTF">2026-06-28T05:34:36Z</dcterms:modified>
</cp:coreProperties>
</file>
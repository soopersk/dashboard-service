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Narrative: H1 built two foundational services — the Observability Service and Orchestration Multi-tenancy. In Q3 those foundations drove adoption: every NSFR modular calculator now runs fully automated through the Orchestration Platform, with key performance metrics live in AmpliFi through the Observability Service; three tenants (NSFR, IPV, PnL) are now on the Orchestration platform; and SLA breach detection for running Capital calculators is live, alerting via Azure App Insights so critical business processes get timely action. BigPanda integration for automated incident routing is a future deliverable. Alongside this, production stability was hardened (PostgreSQL 17, log archival, Airflow run-metadata housekeeping) and Redis caching brought UI query response under 400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Q4 moves from adoption to scale — the same foundations are reused. SAP PAPM is discovery-led because connecting Airflow to an SAP system adds complexity; modernisation finalises the target architecture and analyses the Airflow 3.x upgrade: self-service triggering for controllers, two new calculator families onboarded, and a de-risked Airflow upgrade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FBECEE"/>
          </a:solidFill>
          <a:ln w="12700">
            <a:solidFill>
              <a:srgbClr val="FBEC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 · RUNTIME POD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7665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 — Foundations Now Driving Adoption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16152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built the foundational services; Q3 put them to work — NSFR fully automated, KPIs live in AmpliFi, and SLA breaches detected in real 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473391" y="34747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73391" y="3474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· H1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18143" y="34747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918143" y="3474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· Q3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362895" y="34747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62895" y="3474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· Q4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664208"/>
            <a:ext cx="11277295" cy="914400"/>
          </a:xfrm>
          <a:prstGeom prst="roundRect">
            <a:avLst>
              <a:gd name="adj" fmla="val 12000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1901952"/>
            <a:ext cx="438912" cy="43891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637" y="2016069"/>
            <a:ext cx="210678" cy="21067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298448" y="1755648"/>
            <a:ext cx="18592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1298448" y="2176272"/>
            <a:ext cx="1859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NSFR modular calculators automated via Orchestration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550844" y="1901952"/>
            <a:ext cx="438912" cy="43891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4961" y="2016069"/>
            <a:ext cx="210678" cy="21067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117772" y="1755648"/>
            <a:ext cx="18592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6"/>
          <p:cNvSpPr txBox="1"/>
          <p:nvPr/>
        </p:nvSpPr>
        <p:spPr>
          <a:xfrm>
            <a:off x="4117772" y="2176272"/>
            <a:ext cx="1859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tenants onboarded — NSFR · IPV · PnL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3276524" y="1865376"/>
            <a:ext cx="0" cy="512064"/>
          </a:xfrm>
          <a:prstGeom prst="line">
            <a:avLst/>
          </a:prstGeom>
          <a:noFill/>
          <a:ln w="9525">
            <a:solidFill>
              <a:srgbClr val="3A445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370168" y="1901952"/>
            <a:ext cx="438912" cy="43891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285" y="2016069"/>
            <a:ext cx="210678" cy="21067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937096" y="1755648"/>
            <a:ext cx="18592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2400" dirty="0"/>
          </a:p>
        </p:txBody>
      </p:sp>
      <p:sp>
        <p:nvSpPr>
          <p:cNvPr id="25" name="Text 20"/>
          <p:cNvSpPr txBox="1"/>
          <p:nvPr/>
        </p:nvSpPr>
        <p:spPr>
          <a:xfrm>
            <a:off x="6937096" y="2176272"/>
            <a:ext cx="1859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breach detection for running calculators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6095848" y="1865376"/>
            <a:ext cx="0" cy="512064"/>
          </a:xfrm>
          <a:prstGeom prst="line">
            <a:avLst/>
          </a:prstGeom>
          <a:noFill/>
          <a:ln w="9525">
            <a:solidFill>
              <a:srgbClr val="3A445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189491" y="1901952"/>
            <a:ext cx="438912" cy="43891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3609" y="2016069"/>
            <a:ext cx="210678" cy="21067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756419" y="1755648"/>
            <a:ext cx="18592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&lt;400 ms</a:t>
            </a:r>
            <a:endParaRPr lang="en-US" sz="2400" dirty="0"/>
          </a:p>
        </p:txBody>
      </p:sp>
      <p:sp>
        <p:nvSpPr>
          <p:cNvPr id="30" name="Text 24"/>
          <p:cNvSpPr txBox="1"/>
          <p:nvPr/>
        </p:nvSpPr>
        <p:spPr>
          <a:xfrm>
            <a:off x="9756419" y="2176272"/>
            <a:ext cx="18592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query response with Redis cache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8915171" y="1865376"/>
            <a:ext cx="0" cy="512064"/>
          </a:xfrm>
          <a:prstGeom prst="line">
            <a:avLst/>
          </a:prstGeom>
          <a:noFill/>
          <a:ln w="9525">
            <a:solidFill>
              <a:srgbClr val="3A4458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57200" y="276148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 ·  BUILT IN H1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457200" y="3035808"/>
            <a:ext cx="2926080" cy="1024128"/>
          </a:xfrm>
          <a:prstGeom prst="roundRect">
            <a:avLst>
              <a:gd name="adj" fmla="val 892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40080" y="3182112"/>
            <a:ext cx="365760" cy="3657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178" y="3277210"/>
            <a:ext cx="175565" cy="175565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1115568" y="31821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Service</a:t>
            </a:r>
            <a:endParaRPr lang="en-US" sz="1250" dirty="0"/>
          </a:p>
        </p:txBody>
      </p:sp>
      <p:sp>
        <p:nvSpPr>
          <p:cNvPr id="37" name="Text 30"/>
          <p:cNvSpPr txBox="1"/>
          <p:nvPr/>
        </p:nvSpPr>
        <p:spPr>
          <a:xfrm>
            <a:off x="640080" y="360273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data capture, status and SLA intelligence feeding AmpliFi.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457200" y="4206240"/>
            <a:ext cx="2926080" cy="1024128"/>
          </a:xfrm>
          <a:prstGeom prst="roundRect">
            <a:avLst>
              <a:gd name="adj" fmla="val 892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640080" y="4352544"/>
            <a:ext cx="365760" cy="3657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178" y="4447642"/>
            <a:ext cx="175565" cy="175565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115568" y="435254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Multi-tenancy</a:t>
            </a:r>
            <a:endParaRPr lang="en-US" sz="1250" dirty="0"/>
          </a:p>
        </p:txBody>
      </p:sp>
      <p:sp>
        <p:nvSpPr>
          <p:cNvPr id="42" name="Text 34"/>
          <p:cNvSpPr txBox="1"/>
          <p:nvPr/>
        </p:nvSpPr>
        <p:spPr>
          <a:xfrm>
            <a:off x="640080" y="47731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ACD Airflow with tenant isolation, RBAC and autonomous releases.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3511296" y="3877056"/>
            <a:ext cx="256032" cy="512064"/>
          </a:xfrm>
          <a:prstGeom prst="chevron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3913632" y="2761488"/>
            <a:ext cx="78208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 ·  DELIVERED IN Q3</a:t>
            </a:r>
            <a:endParaRPr lang="en-US" sz="1000" dirty="0"/>
          </a:p>
        </p:txBody>
      </p:sp>
      <p:sp>
        <p:nvSpPr>
          <p:cNvPr id="45" name="Shape 37"/>
          <p:cNvSpPr/>
          <p:nvPr/>
        </p:nvSpPr>
        <p:spPr>
          <a:xfrm>
            <a:off x="3913632" y="3035808"/>
            <a:ext cx="2485034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3E6EB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46" name="Shape 38"/>
          <p:cNvSpPr/>
          <p:nvPr/>
        </p:nvSpPr>
        <p:spPr>
          <a:xfrm>
            <a:off x="4096512" y="3182112"/>
            <a:ext cx="365760" cy="365760"/>
          </a:xfrm>
          <a:prstGeom prst="ellipse">
            <a:avLst/>
          </a:prstGeom>
          <a:solidFill>
            <a:srgbClr val="FBECEE"/>
          </a:solidFill>
          <a:ln w="12700">
            <a:solidFill>
              <a:srgbClr val="FBECEE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610" y="3277210"/>
            <a:ext cx="175565" cy="175565"/>
          </a:xfrm>
          <a:prstGeom prst="rect">
            <a:avLst/>
          </a:prstGeom>
        </p:spPr>
      </p:pic>
      <p:sp>
        <p:nvSpPr>
          <p:cNvPr id="48" name="Shape 39"/>
          <p:cNvSpPr/>
          <p:nvPr/>
        </p:nvSpPr>
        <p:spPr>
          <a:xfrm>
            <a:off x="5392826" y="3255264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5392826" y="325526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NSFR</a:t>
            </a:r>
            <a:endParaRPr lang="en-US" sz="850" dirty="0"/>
          </a:p>
        </p:txBody>
      </p:sp>
      <p:sp>
        <p:nvSpPr>
          <p:cNvPr id="50" name="Text 41"/>
          <p:cNvSpPr txBox="1"/>
          <p:nvPr/>
        </p:nvSpPr>
        <p:spPr>
          <a:xfrm>
            <a:off x="4096512" y="3639312"/>
            <a:ext cx="21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NSFR automated &amp; observable</a:t>
            </a:r>
            <a:endParaRPr lang="en-US" sz="1250" dirty="0"/>
          </a:p>
        </p:txBody>
      </p:sp>
      <p:sp>
        <p:nvSpPr>
          <p:cNvPr id="51" name="Text 42"/>
          <p:cNvSpPr txBox="1"/>
          <p:nvPr/>
        </p:nvSpPr>
        <p:spPr>
          <a:xfrm>
            <a:off x="4096512" y="3950208"/>
            <a:ext cx="211927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NSFR modular calculators automated via the Orchestration Platform, with their KPIs live in AmpliFi.</a:t>
            </a:r>
            <a:endParaRPr lang="en-US" sz="1000" dirty="0"/>
          </a:p>
        </p:txBody>
      </p:sp>
      <p:sp>
        <p:nvSpPr>
          <p:cNvPr id="52" name="Text 43"/>
          <p:cNvSpPr txBox="1"/>
          <p:nvPr/>
        </p:nvSpPr>
        <p:spPr>
          <a:xfrm>
            <a:off x="4096512" y="4572000"/>
            <a:ext cx="21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automated and visible</a:t>
            </a:r>
            <a:endParaRPr lang="en-US" sz="1050" dirty="0"/>
          </a:p>
        </p:txBody>
      </p:sp>
      <p:sp>
        <p:nvSpPr>
          <p:cNvPr id="53" name="Shape 44"/>
          <p:cNvSpPr/>
          <p:nvPr/>
        </p:nvSpPr>
        <p:spPr>
          <a:xfrm>
            <a:off x="4096512" y="4892040"/>
            <a:ext cx="2119274" cy="0"/>
          </a:xfrm>
          <a:prstGeom prst="line">
            <a:avLst/>
          </a:prstGeom>
          <a:noFill/>
          <a:ln w="9525">
            <a:solidFill>
              <a:srgbClr val="E3E6EB"/>
            </a:solidFill>
            <a:prstDash val="solid"/>
          </a:ln>
        </p:spPr>
      </p:sp>
      <p:sp>
        <p:nvSpPr>
          <p:cNvPr id="54" name="Text 45"/>
          <p:cNvSpPr txBox="1"/>
          <p:nvPr/>
        </p:nvSpPr>
        <p:spPr>
          <a:xfrm>
            <a:off x="4096512" y="4937760"/>
            <a:ext cx="2119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 </a:t>
            </a:r>
            <a:pPr indent="0" marL="0">
              <a:buNone/>
            </a:pPr>
            <a:r>
              <a:rPr lang="en-US" sz="9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+ Observability</a:t>
            </a:r>
            <a:endParaRPr lang="en-US" sz="900" dirty="0"/>
          </a:p>
        </p:txBody>
      </p:sp>
      <p:sp>
        <p:nvSpPr>
          <p:cNvPr id="55" name="Shape 46"/>
          <p:cNvSpPr/>
          <p:nvPr/>
        </p:nvSpPr>
        <p:spPr>
          <a:xfrm>
            <a:off x="6581546" y="3035808"/>
            <a:ext cx="2485034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3E6EB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56" name="Shape 47"/>
          <p:cNvSpPr/>
          <p:nvPr/>
        </p:nvSpPr>
        <p:spPr>
          <a:xfrm>
            <a:off x="6764426" y="3182112"/>
            <a:ext cx="365760" cy="365760"/>
          </a:xfrm>
          <a:prstGeom prst="ellipse">
            <a:avLst/>
          </a:prstGeom>
          <a:solidFill>
            <a:srgbClr val="FBECEE"/>
          </a:solidFill>
          <a:ln w="12700">
            <a:solidFill>
              <a:srgbClr val="FBECEE"/>
            </a:solidFill>
            <a:prstDash val="solid"/>
          </a:ln>
        </p:spPr>
      </p:sp>
      <p:pic>
        <p:nvPicPr>
          <p:cNvPr id="5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9524" y="3277210"/>
            <a:ext cx="175565" cy="175565"/>
          </a:xfrm>
          <a:prstGeom prst="rect">
            <a:avLst/>
          </a:prstGeom>
        </p:spPr>
      </p:pic>
      <p:sp>
        <p:nvSpPr>
          <p:cNvPr id="58" name="Shape 48"/>
          <p:cNvSpPr/>
          <p:nvPr/>
        </p:nvSpPr>
        <p:spPr>
          <a:xfrm>
            <a:off x="8060741" y="3255264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8060741" y="325526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850" dirty="0"/>
          </a:p>
        </p:txBody>
      </p:sp>
      <p:sp>
        <p:nvSpPr>
          <p:cNvPr id="60" name="Text 50"/>
          <p:cNvSpPr txBox="1"/>
          <p:nvPr/>
        </p:nvSpPr>
        <p:spPr>
          <a:xfrm>
            <a:off x="6764426" y="3639312"/>
            <a:ext cx="21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SLA breach detection</a:t>
            </a:r>
            <a:endParaRPr lang="en-US" sz="1250" dirty="0"/>
          </a:p>
        </p:txBody>
      </p:sp>
      <p:sp>
        <p:nvSpPr>
          <p:cNvPr id="61" name="Text 51"/>
          <p:cNvSpPr txBox="1"/>
          <p:nvPr/>
        </p:nvSpPr>
        <p:spPr>
          <a:xfrm>
            <a:off x="6764426" y="3950208"/>
            <a:ext cx="211927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Capital calculators tracked in real time; SLA breaches detected live and alerted via Azure App Insights.</a:t>
            </a:r>
            <a:endParaRPr lang="en-US" sz="1000" dirty="0"/>
          </a:p>
        </p:txBody>
      </p:sp>
      <p:sp>
        <p:nvSpPr>
          <p:cNvPr id="62" name="Text 52"/>
          <p:cNvSpPr txBox="1"/>
          <p:nvPr/>
        </p:nvSpPr>
        <p:spPr>
          <a:xfrm>
            <a:off x="6764426" y="4572000"/>
            <a:ext cx="21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Timely action on critical processes</a:t>
            </a:r>
            <a:endParaRPr lang="en-US" sz="1050" dirty="0"/>
          </a:p>
        </p:txBody>
      </p:sp>
      <p:sp>
        <p:nvSpPr>
          <p:cNvPr id="63" name="Shape 53"/>
          <p:cNvSpPr/>
          <p:nvPr/>
        </p:nvSpPr>
        <p:spPr>
          <a:xfrm>
            <a:off x="6764426" y="4892040"/>
            <a:ext cx="2119274" cy="0"/>
          </a:xfrm>
          <a:prstGeom prst="line">
            <a:avLst/>
          </a:prstGeom>
          <a:noFill/>
          <a:ln w="9525">
            <a:solidFill>
              <a:srgbClr val="E3E6EB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6764426" y="4937760"/>
            <a:ext cx="2119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 </a:t>
            </a:r>
            <a:pPr indent="0" marL="0">
              <a:buNone/>
            </a:pPr>
            <a:r>
              <a:rPr lang="en-US" sz="9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Service</a:t>
            </a:r>
            <a:endParaRPr lang="en-US" sz="900" dirty="0"/>
          </a:p>
        </p:txBody>
      </p:sp>
      <p:sp>
        <p:nvSpPr>
          <p:cNvPr id="65" name="Shape 55"/>
          <p:cNvSpPr/>
          <p:nvPr/>
        </p:nvSpPr>
        <p:spPr>
          <a:xfrm>
            <a:off x="9249461" y="3035808"/>
            <a:ext cx="2485034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3E6EB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66" name="Shape 56"/>
          <p:cNvSpPr/>
          <p:nvPr/>
        </p:nvSpPr>
        <p:spPr>
          <a:xfrm>
            <a:off x="9432341" y="3182112"/>
            <a:ext cx="365760" cy="365760"/>
          </a:xfrm>
          <a:prstGeom prst="ellipse">
            <a:avLst/>
          </a:prstGeom>
          <a:solidFill>
            <a:srgbClr val="FBECEE"/>
          </a:solidFill>
          <a:ln w="12700">
            <a:solidFill>
              <a:srgbClr val="FBECEE"/>
            </a:solidFill>
            <a:prstDash val="solid"/>
          </a:ln>
        </p:spPr>
      </p:sp>
      <p:pic>
        <p:nvPicPr>
          <p:cNvPr id="6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7438" y="3277210"/>
            <a:ext cx="175565" cy="175565"/>
          </a:xfrm>
          <a:prstGeom prst="rect">
            <a:avLst/>
          </a:prstGeom>
        </p:spPr>
      </p:pic>
      <p:sp>
        <p:nvSpPr>
          <p:cNvPr id="68" name="Shape 57"/>
          <p:cNvSpPr/>
          <p:nvPr/>
        </p:nvSpPr>
        <p:spPr>
          <a:xfrm>
            <a:off x="10728655" y="3255264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69" name="Text 58"/>
          <p:cNvSpPr txBox="1"/>
          <p:nvPr/>
        </p:nvSpPr>
        <p:spPr>
          <a:xfrm>
            <a:off x="10728655" y="325526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850" dirty="0"/>
          </a:p>
        </p:txBody>
      </p:sp>
      <p:sp>
        <p:nvSpPr>
          <p:cNvPr id="70" name="Text 59"/>
          <p:cNvSpPr txBox="1"/>
          <p:nvPr/>
        </p:nvSpPr>
        <p:spPr>
          <a:xfrm>
            <a:off x="9432341" y="3639312"/>
            <a:ext cx="21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performance</a:t>
            </a:r>
            <a:endParaRPr lang="en-US" sz="1250" dirty="0"/>
          </a:p>
        </p:txBody>
      </p:sp>
      <p:sp>
        <p:nvSpPr>
          <p:cNvPr id="71" name="Text 60"/>
          <p:cNvSpPr txBox="1"/>
          <p:nvPr/>
        </p:nvSpPr>
        <p:spPr>
          <a:xfrm>
            <a:off x="9432341" y="3950208"/>
            <a:ext cx="211927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new tenants on Orchestration (NSFR, IPV, PnL); Redis cache brings AmpliFi UI response under 400 ms.</a:t>
            </a:r>
            <a:endParaRPr lang="en-US" sz="1000" dirty="0"/>
          </a:p>
        </p:txBody>
      </p:sp>
      <p:sp>
        <p:nvSpPr>
          <p:cNvPr id="72" name="Text 61"/>
          <p:cNvSpPr txBox="1"/>
          <p:nvPr/>
        </p:nvSpPr>
        <p:spPr>
          <a:xfrm>
            <a:off x="9432341" y="4572000"/>
            <a:ext cx="21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teams onboard, faster insight</a:t>
            </a:r>
            <a:endParaRPr lang="en-US" sz="1050" dirty="0"/>
          </a:p>
        </p:txBody>
      </p:sp>
      <p:sp>
        <p:nvSpPr>
          <p:cNvPr id="73" name="Shape 62"/>
          <p:cNvSpPr/>
          <p:nvPr/>
        </p:nvSpPr>
        <p:spPr>
          <a:xfrm>
            <a:off x="9432341" y="4892040"/>
            <a:ext cx="2119274" cy="0"/>
          </a:xfrm>
          <a:prstGeom prst="line">
            <a:avLst/>
          </a:prstGeom>
          <a:noFill/>
          <a:ln w="9525">
            <a:solidFill>
              <a:srgbClr val="E3E6EB"/>
            </a:solidFill>
            <a:prstDash val="solid"/>
          </a:ln>
        </p:spPr>
      </p:sp>
      <p:sp>
        <p:nvSpPr>
          <p:cNvPr id="74" name="Text 63"/>
          <p:cNvSpPr txBox="1"/>
          <p:nvPr/>
        </p:nvSpPr>
        <p:spPr>
          <a:xfrm>
            <a:off x="9432341" y="4937760"/>
            <a:ext cx="2119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 </a:t>
            </a:r>
            <a:pPr indent="0" marL="0">
              <a:buNone/>
            </a:pPr>
            <a:r>
              <a:rPr lang="en-US" sz="9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+ Observability</a:t>
            </a:r>
            <a:endParaRPr lang="en-US" sz="900" dirty="0"/>
          </a:p>
        </p:txBody>
      </p:sp>
      <p:sp>
        <p:nvSpPr>
          <p:cNvPr id="75" name="Text 64"/>
          <p:cNvSpPr txBox="1"/>
          <p:nvPr/>
        </p:nvSpPr>
        <p:spPr>
          <a:xfrm>
            <a:off x="457200" y="544982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RESILIENCE &amp; SIMPLIFICATION</a:t>
            </a:r>
            <a:endParaRPr lang="en-US" sz="1000" dirty="0"/>
          </a:p>
        </p:txBody>
      </p:sp>
      <p:sp>
        <p:nvSpPr>
          <p:cNvPr id="76" name="Shape 65"/>
          <p:cNvSpPr/>
          <p:nvPr/>
        </p:nvSpPr>
        <p:spPr>
          <a:xfrm>
            <a:off x="457200" y="5724144"/>
            <a:ext cx="3637178" cy="768096"/>
          </a:xfrm>
          <a:prstGeom prst="roundRect">
            <a:avLst>
              <a:gd name="adj" fmla="val 11905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77" name="Shape 66"/>
          <p:cNvSpPr/>
          <p:nvPr/>
        </p:nvSpPr>
        <p:spPr>
          <a:xfrm>
            <a:off x="621792" y="592531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6890" y="6020410"/>
            <a:ext cx="175565" cy="175565"/>
          </a:xfrm>
          <a:prstGeom prst="rect">
            <a:avLst/>
          </a:prstGeom>
        </p:spPr>
      </p:pic>
      <p:sp>
        <p:nvSpPr>
          <p:cNvPr id="79" name="Text 67"/>
          <p:cNvSpPr txBox="1"/>
          <p:nvPr/>
        </p:nvSpPr>
        <p:spPr>
          <a:xfrm>
            <a:off x="1115568" y="5779008"/>
            <a:ext cx="28325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stability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17 upgrade, log archival and Airflow run-metadata housekeeping implemented.</a:t>
            </a:r>
            <a:endParaRPr lang="en-US" sz="1100" dirty="0"/>
          </a:p>
        </p:txBody>
      </p:sp>
      <p:sp>
        <p:nvSpPr>
          <p:cNvPr id="80" name="Shape 68"/>
          <p:cNvSpPr/>
          <p:nvPr/>
        </p:nvSpPr>
        <p:spPr>
          <a:xfrm>
            <a:off x="4277258" y="5724144"/>
            <a:ext cx="3637178" cy="768096"/>
          </a:xfrm>
          <a:prstGeom prst="roundRect">
            <a:avLst>
              <a:gd name="adj" fmla="val 11905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81" name="Shape 69"/>
          <p:cNvSpPr/>
          <p:nvPr/>
        </p:nvSpPr>
        <p:spPr>
          <a:xfrm>
            <a:off x="4441850" y="592531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6948" y="6020410"/>
            <a:ext cx="175565" cy="175565"/>
          </a:xfrm>
          <a:prstGeom prst="rect">
            <a:avLst/>
          </a:prstGeom>
        </p:spPr>
      </p:pic>
      <p:sp>
        <p:nvSpPr>
          <p:cNvPr id="83" name="Text 70"/>
          <p:cNvSpPr txBox="1"/>
          <p:nvPr/>
        </p:nvSpPr>
        <p:spPr>
          <a:xfrm>
            <a:off x="4935626" y="5779008"/>
            <a:ext cx="28325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simplification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IPV and task-state apps decommissioned, reducing the estate to support.</a:t>
            </a:r>
            <a:endParaRPr lang="en-US" sz="1100" dirty="0"/>
          </a:p>
        </p:txBody>
      </p:sp>
      <p:sp>
        <p:nvSpPr>
          <p:cNvPr id="84" name="Shape 71"/>
          <p:cNvSpPr/>
          <p:nvPr/>
        </p:nvSpPr>
        <p:spPr>
          <a:xfrm>
            <a:off x="8097317" y="5724144"/>
            <a:ext cx="3637178" cy="768096"/>
          </a:xfrm>
          <a:prstGeom prst="roundRect">
            <a:avLst>
              <a:gd name="adj" fmla="val 11905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85" name="Shape 72"/>
          <p:cNvSpPr/>
          <p:nvPr/>
        </p:nvSpPr>
        <p:spPr>
          <a:xfrm>
            <a:off x="8261909" y="592531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57006" y="6020410"/>
            <a:ext cx="175565" cy="175565"/>
          </a:xfrm>
          <a:prstGeom prst="rect">
            <a:avLst/>
          </a:prstGeom>
        </p:spPr>
      </p:pic>
      <p:sp>
        <p:nvSpPr>
          <p:cNvPr id="87" name="Text 73"/>
          <p:cNvSpPr txBox="1"/>
          <p:nvPr/>
        </p:nvSpPr>
        <p:spPr>
          <a:xfrm>
            <a:off x="8755685" y="5779008"/>
            <a:ext cx="28325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&amp; security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Release Process Framework established; VM15 remediation ongoing.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FBECEE"/>
          </a:solidFill>
          <a:ln w="12700">
            <a:solidFill>
              <a:srgbClr val="FBEC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 · OUTLOOK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7665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 — Scaling the Platform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16152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NSFR and Capital in Q3, the Orchestration + Observability pattern now extends to new calculators and self-service.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473391" y="34747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73391" y="3474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· H1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18143" y="34747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918143" y="3474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· Q3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362895" y="34747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62895" y="3474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· Q4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11277295" cy="868680"/>
          </a:xfrm>
          <a:prstGeom prst="roundRect">
            <a:avLst>
              <a:gd name="adj" fmla="val 12632"/>
            </a:avLst>
          </a:prstGeom>
          <a:solidFill>
            <a:srgbClr val="FBECEE"/>
          </a:solidFill>
          <a:ln w="12700">
            <a:solidFill>
              <a:srgbClr val="FBEC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1897380"/>
            <a:ext cx="457200" cy="45720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016252"/>
            <a:ext cx="219456" cy="21945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371600" y="1764792"/>
            <a:ext cx="100885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END-OF-Q4 VISION</a:t>
            </a:r>
            <a:endParaRPr lang="en-US" sz="1050" dirty="0"/>
          </a:p>
          <a:p>
            <a:pPr indent="0" marL="0">
              <a:buNone/>
            </a:pPr>
            <a:r>
              <a:rPr lang="en-US" sz="13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repeatable onboarding pattern at scale — Equity calculators on ACD Airflow with observability from day one, a validated SAP PAPM integration path, on-demand calculator triggers for users, and a finalised modernisation architecture with an Airflow 3.x upgrade plan.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2834640"/>
            <a:ext cx="2668448" cy="3063240"/>
          </a:xfrm>
          <a:prstGeom prst="roundRect">
            <a:avLst>
              <a:gd name="adj" fmla="val 3427"/>
            </a:avLst>
          </a:prstGeom>
          <a:solidFill>
            <a:srgbClr val="FFFFFF"/>
          </a:solidFill>
          <a:ln w="9525">
            <a:solidFill>
              <a:srgbClr val="E3E6EB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5836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2522144" y="3017520"/>
            <a:ext cx="402336" cy="402336"/>
          </a:xfrm>
          <a:prstGeom prst="ellipse">
            <a:avLst/>
          </a:prstGeom>
          <a:solidFill>
            <a:srgbClr val="FBECEE"/>
          </a:solidFill>
          <a:ln w="12700">
            <a:solidFill>
              <a:srgbClr val="FBECE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751" y="3122127"/>
            <a:ext cx="193121" cy="193121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58368" y="3474720"/>
            <a:ext cx="226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Calculator Trigger (UI)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58368" y="3950208"/>
            <a:ext cx="2266112" cy="219456"/>
          </a:xfrm>
          <a:prstGeom prst="roundRect">
            <a:avLst>
              <a:gd name="adj" fmla="val 50000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8368" y="3950208"/>
            <a:ext cx="226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 </a:t>
            </a:r>
            <a:pPr algn="ctr" indent="0" marL="0">
              <a:buNone/>
            </a:pPr>
            <a:r>
              <a:rPr lang="en-US" sz="9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+ Orchestration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658368" y="4251960"/>
            <a:ext cx="226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and users trigger calculators directly from the UI — no engineering hand-off.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658368" y="4846320"/>
            <a:ext cx="226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658368" y="5029200"/>
            <a:ext cx="226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reruns and time-to-result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support and ops dependency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" y="5449824"/>
            <a:ext cx="226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 </a:t>
            </a:r>
            <a:pPr indent="0" marL="0">
              <a:buNone/>
            </a:pPr>
            <a:r>
              <a:rPr lang="en-US" sz="95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self-service triggers  ·  Manual rerun requests ↓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3326816" y="2834640"/>
            <a:ext cx="2668448" cy="3063240"/>
          </a:xfrm>
          <a:prstGeom prst="roundRect">
            <a:avLst>
              <a:gd name="adj" fmla="val 3427"/>
            </a:avLst>
          </a:prstGeom>
          <a:solidFill>
            <a:srgbClr val="FFFFFF"/>
          </a:solidFill>
          <a:ln w="9525">
            <a:solidFill>
              <a:srgbClr val="E3E6EB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3527984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5391760" y="3017520"/>
            <a:ext cx="402336" cy="402336"/>
          </a:xfrm>
          <a:prstGeom prst="ellipse">
            <a:avLst/>
          </a:prstGeom>
          <a:solidFill>
            <a:srgbClr val="FBECEE"/>
          </a:solidFill>
          <a:ln w="12700">
            <a:solidFill>
              <a:srgbClr val="FBECEE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367" y="3122127"/>
            <a:ext cx="193121" cy="193121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3527984" y="3474720"/>
            <a:ext cx="226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Attribute Calculators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3527984" y="3950208"/>
            <a:ext cx="2266112" cy="219456"/>
          </a:xfrm>
          <a:prstGeom prst="roundRect">
            <a:avLst>
              <a:gd name="adj" fmla="val 50000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527984" y="3950208"/>
            <a:ext cx="226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 </a:t>
            </a:r>
            <a:pPr algn="ctr" indent="0" marL="0">
              <a:buNone/>
            </a:pPr>
            <a:r>
              <a:rPr lang="en-US" sz="9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+ Observability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3527984" y="4251960"/>
            <a:ext cx="226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NSFR pattern: onboard Equity Attribute calculators onto ACD Airflow with Observability from day one.</a:t>
            </a:r>
            <a:endParaRPr lang="en-US" sz="1050" dirty="0"/>
          </a:p>
        </p:txBody>
      </p:sp>
      <p:sp>
        <p:nvSpPr>
          <p:cNvPr id="35" name="Text 30"/>
          <p:cNvSpPr txBox="1"/>
          <p:nvPr/>
        </p:nvSpPr>
        <p:spPr>
          <a:xfrm>
            <a:off x="3527984" y="4846320"/>
            <a:ext cx="226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850" dirty="0"/>
          </a:p>
        </p:txBody>
      </p:sp>
      <p:sp>
        <p:nvSpPr>
          <p:cNvPr id="36" name="Text 31"/>
          <p:cNvSpPr txBox="1"/>
          <p:nvPr/>
        </p:nvSpPr>
        <p:spPr>
          <a:xfrm>
            <a:off x="3527984" y="5029200"/>
            <a:ext cx="226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extends to a new business area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&amp; status visibility on go-live</a:t>
            </a:r>
            <a:endParaRPr lang="en-US" sz="1000" dirty="0"/>
          </a:p>
        </p:txBody>
      </p:sp>
      <p:sp>
        <p:nvSpPr>
          <p:cNvPr id="37" name="Text 32"/>
          <p:cNvSpPr txBox="1"/>
          <p:nvPr/>
        </p:nvSpPr>
        <p:spPr>
          <a:xfrm>
            <a:off x="3527984" y="5449824"/>
            <a:ext cx="226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 </a:t>
            </a:r>
            <a:pPr indent="0" marL="0">
              <a:buNone/>
            </a:pPr>
            <a:r>
              <a:rPr lang="en-US" sz="95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calculators onboarded  ·  Observability coverage %</a:t>
            </a:r>
            <a:endParaRPr lang="en-US" sz="850" dirty="0"/>
          </a:p>
        </p:txBody>
      </p:sp>
      <p:sp>
        <p:nvSpPr>
          <p:cNvPr id="38" name="Shape 33"/>
          <p:cNvSpPr/>
          <p:nvPr/>
        </p:nvSpPr>
        <p:spPr>
          <a:xfrm>
            <a:off x="6196432" y="2834640"/>
            <a:ext cx="2668448" cy="3063240"/>
          </a:xfrm>
          <a:prstGeom prst="roundRect">
            <a:avLst>
              <a:gd name="adj" fmla="val 3427"/>
            </a:avLst>
          </a:prstGeom>
          <a:solidFill>
            <a:srgbClr val="FFFFFF"/>
          </a:solidFill>
          <a:ln w="9525">
            <a:solidFill>
              <a:srgbClr val="E3E6EB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39" name="Text 34"/>
          <p:cNvSpPr txBox="1"/>
          <p:nvPr/>
        </p:nvSpPr>
        <p:spPr>
          <a:xfrm>
            <a:off x="6397600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40" name="Shape 35"/>
          <p:cNvSpPr/>
          <p:nvPr/>
        </p:nvSpPr>
        <p:spPr>
          <a:xfrm>
            <a:off x="8261375" y="3017520"/>
            <a:ext cx="402336" cy="402336"/>
          </a:xfrm>
          <a:prstGeom prst="ellipse">
            <a:avLst/>
          </a:prstGeom>
          <a:solidFill>
            <a:srgbClr val="FBECEE"/>
          </a:solidFill>
          <a:ln w="12700">
            <a:solidFill>
              <a:srgbClr val="FBECEE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5983" y="3122127"/>
            <a:ext cx="193121" cy="193121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6397600" y="3474720"/>
            <a:ext cx="226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PAPM — Discover &amp; Integrate</a:t>
            </a:r>
            <a:endParaRPr lang="en-US" sz="1300" dirty="0"/>
          </a:p>
        </p:txBody>
      </p:sp>
      <p:sp>
        <p:nvSpPr>
          <p:cNvPr id="43" name="Shape 37"/>
          <p:cNvSpPr/>
          <p:nvPr/>
        </p:nvSpPr>
        <p:spPr>
          <a:xfrm>
            <a:off x="6397600" y="3950208"/>
            <a:ext cx="2266112" cy="219456"/>
          </a:xfrm>
          <a:prstGeom prst="roundRect">
            <a:avLst>
              <a:gd name="adj" fmla="val 50000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6397600" y="3950208"/>
            <a:ext cx="226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 </a:t>
            </a:r>
            <a:pPr algn="ctr" indent="0" marL="0">
              <a:buNone/>
            </a:pPr>
            <a:r>
              <a:rPr lang="en-US" sz="9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900" dirty="0"/>
          </a:p>
        </p:txBody>
      </p:sp>
      <p:sp>
        <p:nvSpPr>
          <p:cNvPr id="45" name="Text 39"/>
          <p:cNvSpPr txBox="1"/>
          <p:nvPr/>
        </p:nvSpPr>
        <p:spPr>
          <a:xfrm>
            <a:off x="6397600" y="4251960"/>
            <a:ext cx="226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first (SAP adds connectivity complexity), then integrate PAPM calculators with ACD Airflow.</a:t>
            </a:r>
            <a:endParaRPr lang="en-US" sz="1050" dirty="0"/>
          </a:p>
        </p:txBody>
      </p:sp>
      <p:sp>
        <p:nvSpPr>
          <p:cNvPr id="46" name="Text 40"/>
          <p:cNvSpPr txBox="1"/>
          <p:nvPr/>
        </p:nvSpPr>
        <p:spPr>
          <a:xfrm>
            <a:off x="6397600" y="4846320"/>
            <a:ext cx="226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850" dirty="0"/>
          </a:p>
        </p:txBody>
      </p:sp>
      <p:sp>
        <p:nvSpPr>
          <p:cNvPr id="47" name="Text 41"/>
          <p:cNvSpPr txBox="1"/>
          <p:nvPr/>
        </p:nvSpPr>
        <p:spPr>
          <a:xfrm>
            <a:off x="6397600" y="5029200"/>
            <a:ext cx="226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risks surfaced early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common orchestration for SAP</a:t>
            </a:r>
            <a:endParaRPr lang="en-US" sz="1000" dirty="0"/>
          </a:p>
        </p:txBody>
      </p:sp>
      <p:sp>
        <p:nvSpPr>
          <p:cNvPr id="48" name="Text 42"/>
          <p:cNvSpPr txBox="1"/>
          <p:nvPr/>
        </p:nvSpPr>
        <p:spPr>
          <a:xfrm>
            <a:off x="6397600" y="5449824"/>
            <a:ext cx="226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 </a:t>
            </a:r>
            <a:pPr indent="0" marL="0">
              <a:buNone/>
            </a:pPr>
            <a:r>
              <a:rPr lang="en-US" sz="95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approach validated  ·  Integration milestones met</a:t>
            </a:r>
            <a:endParaRPr lang="en-US" sz="850" dirty="0"/>
          </a:p>
        </p:txBody>
      </p:sp>
      <p:sp>
        <p:nvSpPr>
          <p:cNvPr id="49" name="Shape 43"/>
          <p:cNvSpPr/>
          <p:nvPr/>
        </p:nvSpPr>
        <p:spPr>
          <a:xfrm>
            <a:off x="9066047" y="2834640"/>
            <a:ext cx="2668448" cy="3063240"/>
          </a:xfrm>
          <a:prstGeom prst="roundRect">
            <a:avLst>
              <a:gd name="adj" fmla="val 3427"/>
            </a:avLst>
          </a:prstGeom>
          <a:solidFill>
            <a:srgbClr val="FFFFFF"/>
          </a:solidFill>
          <a:ln w="9525">
            <a:solidFill>
              <a:srgbClr val="E3E6EB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50" name="Text 44"/>
          <p:cNvSpPr txBox="1"/>
          <p:nvPr/>
        </p:nvSpPr>
        <p:spPr>
          <a:xfrm>
            <a:off x="9267215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sp>
        <p:nvSpPr>
          <p:cNvPr id="51" name="Shape 45"/>
          <p:cNvSpPr/>
          <p:nvPr/>
        </p:nvSpPr>
        <p:spPr>
          <a:xfrm>
            <a:off x="11130991" y="3017520"/>
            <a:ext cx="402336" cy="402336"/>
          </a:xfrm>
          <a:prstGeom prst="ellipse">
            <a:avLst/>
          </a:prstGeom>
          <a:solidFill>
            <a:srgbClr val="FBECEE"/>
          </a:solidFill>
          <a:ln w="12700">
            <a:solidFill>
              <a:srgbClr val="FBECEE"/>
            </a:solidFill>
            <a:prstDash val="solid"/>
          </a:ln>
        </p:spPr>
      </p:sp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35599" y="3122127"/>
            <a:ext cx="193121" cy="193121"/>
          </a:xfrm>
          <a:prstGeom prst="rect">
            <a:avLst/>
          </a:prstGeom>
        </p:spPr>
      </p:pic>
      <p:sp>
        <p:nvSpPr>
          <p:cNvPr id="53" name="Text 46"/>
          <p:cNvSpPr txBox="1"/>
          <p:nvPr/>
        </p:nvSpPr>
        <p:spPr>
          <a:xfrm>
            <a:off x="9267215" y="3474720"/>
            <a:ext cx="226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Modernisation</a:t>
            </a:r>
            <a:endParaRPr lang="en-US" sz="1300" dirty="0"/>
          </a:p>
        </p:txBody>
      </p:sp>
      <p:sp>
        <p:nvSpPr>
          <p:cNvPr id="54" name="Shape 47"/>
          <p:cNvSpPr/>
          <p:nvPr/>
        </p:nvSpPr>
        <p:spPr>
          <a:xfrm>
            <a:off x="9267215" y="3950208"/>
            <a:ext cx="2266112" cy="219456"/>
          </a:xfrm>
          <a:prstGeom prst="roundRect">
            <a:avLst>
              <a:gd name="adj" fmla="val 50000"/>
            </a:avLst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9267215" y="3950208"/>
            <a:ext cx="226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 </a:t>
            </a:r>
            <a:pPr algn="ctr" indent="0" marL="0">
              <a:buNone/>
            </a:pPr>
            <a:r>
              <a:rPr lang="en-US" sz="9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900" dirty="0"/>
          </a:p>
        </p:txBody>
      </p:sp>
      <p:sp>
        <p:nvSpPr>
          <p:cNvPr id="56" name="Text 49"/>
          <p:cNvSpPr txBox="1"/>
          <p:nvPr/>
        </p:nvSpPr>
        <p:spPr>
          <a:xfrm>
            <a:off x="9267215" y="4251960"/>
            <a:ext cx="226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 the target modernisation architecture and complete discovery &amp; analysis for the Airflow 3.x upgrade.</a:t>
            </a:r>
            <a:endParaRPr lang="en-US" sz="1050" dirty="0"/>
          </a:p>
        </p:txBody>
      </p:sp>
      <p:sp>
        <p:nvSpPr>
          <p:cNvPr id="57" name="Text 50"/>
          <p:cNvSpPr txBox="1"/>
          <p:nvPr/>
        </p:nvSpPr>
        <p:spPr>
          <a:xfrm>
            <a:off x="9267215" y="4846320"/>
            <a:ext cx="226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850" dirty="0"/>
          </a:p>
        </p:txBody>
      </p:sp>
      <p:sp>
        <p:nvSpPr>
          <p:cNvPr id="58" name="Text 51"/>
          <p:cNvSpPr txBox="1"/>
          <p:nvPr/>
        </p:nvSpPr>
        <p:spPr>
          <a:xfrm>
            <a:off x="9267215" y="5029200"/>
            <a:ext cx="226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target architecture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De-risked Airflow 3.x upgrade plan</a:t>
            </a:r>
            <a:endParaRPr lang="en-US" sz="1000" dirty="0"/>
          </a:p>
        </p:txBody>
      </p:sp>
      <p:sp>
        <p:nvSpPr>
          <p:cNvPr id="59" name="Text 52"/>
          <p:cNvSpPr txBox="1"/>
          <p:nvPr/>
        </p:nvSpPr>
        <p:spPr>
          <a:xfrm>
            <a:off x="9267215" y="5449824"/>
            <a:ext cx="226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 </a:t>
            </a:r>
            <a:pPr indent="0" marL="0">
              <a:buNone/>
            </a:pPr>
            <a:r>
              <a:rPr lang="en-US" sz="95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signed off  ·  Airflow 3.x impact analysis complete</a:t>
            </a:r>
            <a:endParaRPr lang="en-US" sz="850" dirty="0"/>
          </a:p>
        </p:txBody>
      </p:sp>
      <p:sp>
        <p:nvSpPr>
          <p:cNvPr id="60" name="Text 53"/>
          <p:cNvSpPr txBox="1"/>
          <p:nvPr/>
        </p:nvSpPr>
        <p:spPr>
          <a:xfrm>
            <a:off x="457200" y="6062472"/>
            <a:ext cx="11277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/ ONGOING:  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&amp; LiFE Airflow platform support, production incident management and VM15 remediation continue. Live SLA alerting integration with BigPanda is a planned future deliverable.</a:t>
            </a:r>
            <a:endParaRPr lang="en-US" sz="950" dirty="0"/>
          </a:p>
        </p:txBody>
      </p:sp>
      <p:sp>
        <p:nvSpPr>
          <p:cNvPr id="61" name="Text 54"/>
          <p:cNvSpPr txBox="1"/>
          <p:nvPr/>
        </p:nvSpPr>
        <p:spPr>
          <a:xfrm>
            <a:off x="457200" y="6291072"/>
            <a:ext cx="11277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scope is planned. In the spirit of agile delivery, sequencing may move based on progress, dependency readiness, risks and BRP decisions.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2026 Runtime POD — Delivery Review &amp; Q4 Outlook</dc:title>
  <dc:subject>PptxGenJS Presentation</dc:subject>
  <dc:creator>PptxGenJS</dc:creator>
  <cp:lastModifiedBy>PptxGenJS</cp:lastModifiedBy>
  <cp:revision>1</cp:revision>
  <dcterms:created xsi:type="dcterms:W3CDTF">2026-09-23T05:54:31Z</dcterms:created>
  <dcterms:modified xsi:type="dcterms:W3CDTF">2026-09-23T05:54:31Z</dcterms:modified>
</cp:coreProperties>
</file>
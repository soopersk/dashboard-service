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Narrative: H1 built two foundational services — the Observability Service and Orchestration Multi-tenancy. In Q3 those foundations drove adoption: every NSFR modular calculator now runs fully automated through the Orchestration Platform, with key performance metrics live in AmpliFi through the Observability Service; three tenants (NSFR, IPV, PnL) are now on the Orchestration platform; and SLA breach detection for running Capital calculators is live, alerting via Azure App Insights so critical business processes get timely action. BigPanda integration for automated incident routing is a future deliverable. Alongside this, production stability was hardened (PostgreSQL 17, log archival, Airflow run-metadata housekeeping) and Redis caching brought UI query response under 400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 moves from adoption to scale — the same foundations are reused: self-service triggering for controllers, two new calculator families onboarded, and a de-risked Airflow upgrade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 w="12700">
            <a:solidFill>
              <a:srgbClr val="FBEC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· RUNTIME POD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7665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— Foundations Now Driving Adoption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1615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built the foundational services; Q3 put them to work — NSFR fully automated, KPIs live in AmpliFi, and SLA breaches detected in real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73391" y="3474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73391" y="347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H1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18143" y="3474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18143" y="347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· Q3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362895" y="3474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62895" y="347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· Q4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664208"/>
            <a:ext cx="11277295" cy="914400"/>
          </a:xfrm>
          <a:prstGeom prst="roundRect">
            <a:avLst>
              <a:gd name="adj" fmla="val 12000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1901952"/>
            <a:ext cx="438912" cy="43891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637" y="2016069"/>
            <a:ext cx="210678" cy="21067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298448" y="1755648"/>
            <a:ext cx="18592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298448" y="2176272"/>
            <a:ext cx="1859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NSFR modular calculators automated via Orchestration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550844" y="1901952"/>
            <a:ext cx="438912" cy="43891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961" y="2016069"/>
            <a:ext cx="210678" cy="21067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117772" y="1755648"/>
            <a:ext cx="18592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4117772" y="2176272"/>
            <a:ext cx="1859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tenants onboarded — NSFR · IPV · PnL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276524" y="1865376"/>
            <a:ext cx="0" cy="512064"/>
          </a:xfrm>
          <a:prstGeom prst="line">
            <a:avLst/>
          </a:prstGeom>
          <a:noFill/>
          <a:ln w="9525">
            <a:solidFill>
              <a:srgbClr val="3A445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70168" y="1901952"/>
            <a:ext cx="438912" cy="43891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285" y="2016069"/>
            <a:ext cx="210678" cy="21067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937096" y="1755648"/>
            <a:ext cx="18592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400" dirty="0"/>
          </a:p>
        </p:txBody>
      </p:sp>
      <p:sp>
        <p:nvSpPr>
          <p:cNvPr id="25" name="Text 20"/>
          <p:cNvSpPr txBox="1"/>
          <p:nvPr/>
        </p:nvSpPr>
        <p:spPr>
          <a:xfrm>
            <a:off x="6937096" y="2176272"/>
            <a:ext cx="1859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detection for running calculators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095848" y="1865376"/>
            <a:ext cx="0" cy="512064"/>
          </a:xfrm>
          <a:prstGeom prst="line">
            <a:avLst/>
          </a:prstGeom>
          <a:noFill/>
          <a:ln w="9525">
            <a:solidFill>
              <a:srgbClr val="3A445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189491" y="1901952"/>
            <a:ext cx="438912" cy="43891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609" y="2016069"/>
            <a:ext cx="210678" cy="21067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756419" y="1755648"/>
            <a:ext cx="18592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&lt;400 ms</a:t>
            </a:r>
            <a:endParaRPr lang="en-US" sz="2400" dirty="0"/>
          </a:p>
        </p:txBody>
      </p:sp>
      <p:sp>
        <p:nvSpPr>
          <p:cNvPr id="30" name="Text 24"/>
          <p:cNvSpPr txBox="1"/>
          <p:nvPr/>
        </p:nvSpPr>
        <p:spPr>
          <a:xfrm>
            <a:off x="9756419" y="2176272"/>
            <a:ext cx="1859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query response with Redis cache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8915171" y="1865376"/>
            <a:ext cx="0" cy="512064"/>
          </a:xfrm>
          <a:prstGeom prst="line">
            <a:avLst/>
          </a:prstGeom>
          <a:noFill/>
          <a:ln w="9525">
            <a:solidFill>
              <a:srgbClr val="3A4458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57200" y="27614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 ·  BUILT IN H1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57200" y="3035808"/>
            <a:ext cx="2926080" cy="1024128"/>
          </a:xfrm>
          <a:prstGeom prst="roundRect">
            <a:avLst>
              <a:gd name="adj" fmla="val 892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40080" y="3182112"/>
            <a:ext cx="365760" cy="3657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8" y="3277210"/>
            <a:ext cx="175565" cy="17556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115568" y="3182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Service</a:t>
            </a:r>
            <a:endParaRPr lang="en-US" sz="1250" dirty="0"/>
          </a:p>
        </p:txBody>
      </p:sp>
      <p:sp>
        <p:nvSpPr>
          <p:cNvPr id="37" name="Text 30"/>
          <p:cNvSpPr txBox="1"/>
          <p:nvPr/>
        </p:nvSpPr>
        <p:spPr>
          <a:xfrm>
            <a:off x="640080" y="36027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data capture, status and SLA intelligence feeding AmpliFi.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457200" y="4206240"/>
            <a:ext cx="2926080" cy="1024128"/>
          </a:xfrm>
          <a:prstGeom prst="roundRect">
            <a:avLst>
              <a:gd name="adj" fmla="val 892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40080" y="4352544"/>
            <a:ext cx="365760" cy="3657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78" y="4447642"/>
            <a:ext cx="175565" cy="17556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115568" y="43525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Multi-tenancy</a:t>
            </a:r>
            <a:endParaRPr lang="en-US" sz="1250" dirty="0"/>
          </a:p>
        </p:txBody>
      </p:sp>
      <p:sp>
        <p:nvSpPr>
          <p:cNvPr id="42" name="Text 34"/>
          <p:cNvSpPr txBox="1"/>
          <p:nvPr/>
        </p:nvSpPr>
        <p:spPr>
          <a:xfrm>
            <a:off x="640080" y="4773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ACD Airflow with tenant isolation, RBAC and autonomous releases.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3511296" y="3877056"/>
            <a:ext cx="256032" cy="512064"/>
          </a:xfrm>
          <a:prstGeom prst="chevron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3913632" y="2761488"/>
            <a:ext cx="7820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 ·  DELIVERED IN Q3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3913632" y="3035808"/>
            <a:ext cx="248503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096512" y="3182112"/>
            <a:ext cx="365760" cy="365760"/>
          </a:xfrm>
          <a:prstGeom prst="ellipse">
            <a:avLst/>
          </a:prstGeom>
          <a:solidFill>
            <a:srgbClr val="FBECEE"/>
          </a:solidFill>
          <a:ln w="12700">
            <a:solidFill>
              <a:srgbClr val="FBECEE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610" y="3277210"/>
            <a:ext cx="175565" cy="175565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5392826" y="3255264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5392826" y="32552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NSFR</a:t>
            </a:r>
            <a:endParaRPr lang="en-US" sz="850" dirty="0"/>
          </a:p>
        </p:txBody>
      </p:sp>
      <p:sp>
        <p:nvSpPr>
          <p:cNvPr id="50" name="Text 41"/>
          <p:cNvSpPr txBox="1"/>
          <p:nvPr/>
        </p:nvSpPr>
        <p:spPr>
          <a:xfrm>
            <a:off x="4096512" y="3639312"/>
            <a:ext cx="2119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NSFR runs</a:t>
            </a:r>
            <a:endParaRPr lang="en-US" sz="1250" dirty="0"/>
          </a:p>
        </p:txBody>
      </p:sp>
      <p:sp>
        <p:nvSpPr>
          <p:cNvPr id="51" name="Text 42"/>
          <p:cNvSpPr txBox="1"/>
          <p:nvPr/>
        </p:nvSpPr>
        <p:spPr>
          <a:xfrm>
            <a:off x="4096512" y="3950208"/>
            <a:ext cx="211927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NSFR modular calculators integrated and automated end-to-end through the Orchestration Platform.</a:t>
            </a:r>
            <a:endParaRPr lang="en-US" sz="1000" dirty="0"/>
          </a:p>
        </p:txBody>
      </p:sp>
      <p:sp>
        <p:nvSpPr>
          <p:cNvPr id="52" name="Text 43"/>
          <p:cNvSpPr txBox="1"/>
          <p:nvPr/>
        </p:nvSpPr>
        <p:spPr>
          <a:xfrm>
            <a:off x="4096512" y="4572000"/>
            <a:ext cx="2119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repeatable NSFR runs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4096512" y="4892040"/>
            <a:ext cx="2119274" cy="0"/>
          </a:xfrm>
          <a:prstGeom prst="line">
            <a:avLst/>
          </a:prstGeom>
          <a:noFill/>
          <a:ln w="9525">
            <a:solidFill>
              <a:srgbClr val="E3E6EB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4096512" y="4937760"/>
            <a:ext cx="2119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 </a:t>
            </a:r>
            <a:pPr indent="0" marL="0">
              <a:buNone/>
            </a:pPr>
            <a:r>
              <a:rPr lang="en-US" sz="9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Platform</a:t>
            </a:r>
            <a:endParaRPr lang="en-US" sz="800" dirty="0"/>
          </a:p>
        </p:txBody>
      </p:sp>
      <p:sp>
        <p:nvSpPr>
          <p:cNvPr id="55" name="Shape 46"/>
          <p:cNvSpPr/>
          <p:nvPr/>
        </p:nvSpPr>
        <p:spPr>
          <a:xfrm>
            <a:off x="6581546" y="3035808"/>
            <a:ext cx="248503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6764426" y="3182112"/>
            <a:ext cx="365760" cy="365760"/>
          </a:xfrm>
          <a:prstGeom prst="ellipse">
            <a:avLst/>
          </a:prstGeom>
          <a:solidFill>
            <a:srgbClr val="FBECEE"/>
          </a:solidFill>
          <a:ln w="12700">
            <a:solidFill>
              <a:srgbClr val="FBECEE"/>
            </a:solidFill>
            <a:prstDash val="solid"/>
          </a:ln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9524" y="3277210"/>
            <a:ext cx="175565" cy="175565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>
            <a:off x="8060741" y="3255264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8060741" y="32552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NSFR</a:t>
            </a:r>
            <a:endParaRPr lang="en-US" sz="850" dirty="0"/>
          </a:p>
        </p:txBody>
      </p:sp>
      <p:sp>
        <p:nvSpPr>
          <p:cNvPr id="60" name="Text 50"/>
          <p:cNvSpPr txBox="1"/>
          <p:nvPr/>
        </p:nvSpPr>
        <p:spPr>
          <a:xfrm>
            <a:off x="6764426" y="3639312"/>
            <a:ext cx="2119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NSFR KPIs live in AmpliFi</a:t>
            </a:r>
            <a:endParaRPr lang="en-US" sz="1250" dirty="0"/>
          </a:p>
        </p:txBody>
      </p:sp>
      <p:sp>
        <p:nvSpPr>
          <p:cNvPr id="61" name="Text 51"/>
          <p:cNvSpPr txBox="1"/>
          <p:nvPr/>
        </p:nvSpPr>
        <p:spPr>
          <a:xfrm>
            <a:off x="6764426" y="3950208"/>
            <a:ext cx="211927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 for NSFR modular calculators flow into AmpliFi through the Observability Service.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6764426" y="4572000"/>
            <a:ext cx="2119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performance insight</a:t>
            </a:r>
            <a:endParaRPr lang="en-US" sz="1050" dirty="0"/>
          </a:p>
        </p:txBody>
      </p:sp>
      <p:sp>
        <p:nvSpPr>
          <p:cNvPr id="63" name="Shape 53"/>
          <p:cNvSpPr/>
          <p:nvPr/>
        </p:nvSpPr>
        <p:spPr>
          <a:xfrm>
            <a:off x="6764426" y="4892040"/>
            <a:ext cx="2119274" cy="0"/>
          </a:xfrm>
          <a:prstGeom prst="line">
            <a:avLst/>
          </a:prstGeom>
          <a:noFill/>
          <a:ln w="9525">
            <a:solidFill>
              <a:srgbClr val="E3E6EB"/>
            </a:solidFill>
            <a:prstDash val="solid"/>
          </a:ln>
        </p:spPr>
      </p:sp>
      <p:sp>
        <p:nvSpPr>
          <p:cNvPr id="64" name="Text 54"/>
          <p:cNvSpPr txBox="1"/>
          <p:nvPr/>
        </p:nvSpPr>
        <p:spPr>
          <a:xfrm>
            <a:off x="6764426" y="4937760"/>
            <a:ext cx="2119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 </a:t>
            </a:r>
            <a:pPr indent="0" marL="0">
              <a:buNone/>
            </a:pPr>
            <a:r>
              <a:rPr lang="en-US" sz="9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Service</a:t>
            </a:r>
            <a:endParaRPr lang="en-US" sz="800" dirty="0"/>
          </a:p>
        </p:txBody>
      </p:sp>
      <p:sp>
        <p:nvSpPr>
          <p:cNvPr id="65" name="Shape 55"/>
          <p:cNvSpPr/>
          <p:nvPr/>
        </p:nvSpPr>
        <p:spPr>
          <a:xfrm>
            <a:off x="9249461" y="3035808"/>
            <a:ext cx="248503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66" name="Shape 56"/>
          <p:cNvSpPr/>
          <p:nvPr/>
        </p:nvSpPr>
        <p:spPr>
          <a:xfrm>
            <a:off x="9432341" y="3182112"/>
            <a:ext cx="365760" cy="365760"/>
          </a:xfrm>
          <a:prstGeom prst="ellipse">
            <a:avLst/>
          </a:prstGeom>
          <a:solidFill>
            <a:srgbClr val="FBECEE"/>
          </a:solidFill>
          <a:ln w="12700">
            <a:solidFill>
              <a:srgbClr val="FBECEE"/>
            </a:solidFill>
            <a:prstDash val="solid"/>
          </a:ln>
        </p:spPr>
      </p:sp>
      <p:pic>
        <p:nvPicPr>
          <p:cNvPr id="6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7438" y="3277210"/>
            <a:ext cx="175565" cy="175565"/>
          </a:xfrm>
          <a:prstGeom prst="rect">
            <a:avLst/>
          </a:prstGeom>
        </p:spPr>
      </p:pic>
      <p:sp>
        <p:nvSpPr>
          <p:cNvPr id="68" name="Shape 57"/>
          <p:cNvSpPr/>
          <p:nvPr/>
        </p:nvSpPr>
        <p:spPr>
          <a:xfrm>
            <a:off x="10728655" y="3255264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69" name="Text 58"/>
          <p:cNvSpPr txBox="1"/>
          <p:nvPr/>
        </p:nvSpPr>
        <p:spPr>
          <a:xfrm>
            <a:off x="10728655" y="32552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850" dirty="0"/>
          </a:p>
        </p:txBody>
      </p:sp>
      <p:sp>
        <p:nvSpPr>
          <p:cNvPr id="70" name="Text 59"/>
          <p:cNvSpPr txBox="1"/>
          <p:nvPr/>
        </p:nvSpPr>
        <p:spPr>
          <a:xfrm>
            <a:off x="9432341" y="3639312"/>
            <a:ext cx="2119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SLA breach detection</a:t>
            </a:r>
            <a:endParaRPr lang="en-US" sz="1250" dirty="0"/>
          </a:p>
        </p:txBody>
      </p:sp>
      <p:sp>
        <p:nvSpPr>
          <p:cNvPr id="71" name="Text 60"/>
          <p:cNvSpPr txBox="1"/>
          <p:nvPr/>
        </p:nvSpPr>
        <p:spPr>
          <a:xfrm>
            <a:off x="9432341" y="3950208"/>
            <a:ext cx="211927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Capital calculators tracked in real time; SLA breaches detected live and alerted via Azure App Insights.</a:t>
            </a:r>
            <a:endParaRPr lang="en-US" sz="1000" dirty="0"/>
          </a:p>
        </p:txBody>
      </p:sp>
      <p:sp>
        <p:nvSpPr>
          <p:cNvPr id="72" name="Text 61"/>
          <p:cNvSpPr txBox="1"/>
          <p:nvPr/>
        </p:nvSpPr>
        <p:spPr>
          <a:xfrm>
            <a:off x="9432341" y="4572000"/>
            <a:ext cx="2119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action on critical processes</a:t>
            </a:r>
            <a:endParaRPr lang="en-US" sz="1050" dirty="0"/>
          </a:p>
        </p:txBody>
      </p:sp>
      <p:sp>
        <p:nvSpPr>
          <p:cNvPr id="73" name="Shape 62"/>
          <p:cNvSpPr/>
          <p:nvPr/>
        </p:nvSpPr>
        <p:spPr>
          <a:xfrm>
            <a:off x="9432341" y="4892040"/>
            <a:ext cx="2119274" cy="0"/>
          </a:xfrm>
          <a:prstGeom prst="line">
            <a:avLst/>
          </a:prstGeom>
          <a:noFill/>
          <a:ln w="9525">
            <a:solidFill>
              <a:srgbClr val="E3E6EB"/>
            </a:solidFill>
            <a:prstDash val="solid"/>
          </a:ln>
        </p:spPr>
      </p:sp>
      <p:sp>
        <p:nvSpPr>
          <p:cNvPr id="74" name="Text 63"/>
          <p:cNvSpPr txBox="1"/>
          <p:nvPr/>
        </p:nvSpPr>
        <p:spPr>
          <a:xfrm>
            <a:off x="9432341" y="4937760"/>
            <a:ext cx="2119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 </a:t>
            </a:r>
            <a:pPr indent="0" marL="0">
              <a:buNone/>
            </a:pPr>
            <a:r>
              <a:rPr lang="en-US" sz="9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Service</a:t>
            </a:r>
            <a:endParaRPr lang="en-US" sz="800" dirty="0"/>
          </a:p>
        </p:txBody>
      </p:sp>
      <p:sp>
        <p:nvSpPr>
          <p:cNvPr id="75" name="Text 64"/>
          <p:cNvSpPr txBox="1"/>
          <p:nvPr/>
        </p:nvSpPr>
        <p:spPr>
          <a:xfrm>
            <a:off x="457200" y="544982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RESILIENCE &amp; PERFORMANCE</a:t>
            </a:r>
            <a:endParaRPr lang="en-US" sz="1000" dirty="0"/>
          </a:p>
        </p:txBody>
      </p:sp>
      <p:sp>
        <p:nvSpPr>
          <p:cNvPr id="76" name="Shape 65"/>
          <p:cNvSpPr/>
          <p:nvPr/>
        </p:nvSpPr>
        <p:spPr>
          <a:xfrm>
            <a:off x="457200" y="5724144"/>
            <a:ext cx="3637178" cy="768096"/>
          </a:xfrm>
          <a:prstGeom prst="roundRect">
            <a:avLst>
              <a:gd name="adj" fmla="val 11905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77" name="Shape 66"/>
          <p:cNvSpPr/>
          <p:nvPr/>
        </p:nvSpPr>
        <p:spPr>
          <a:xfrm>
            <a:off x="621792" y="592531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890" y="6020410"/>
            <a:ext cx="175565" cy="175565"/>
          </a:xfrm>
          <a:prstGeom prst="rect">
            <a:avLst/>
          </a:prstGeom>
        </p:spPr>
      </p:pic>
      <p:sp>
        <p:nvSpPr>
          <p:cNvPr id="79" name="Text 67"/>
          <p:cNvSpPr txBox="1"/>
          <p:nvPr/>
        </p:nvSpPr>
        <p:spPr>
          <a:xfrm>
            <a:off x="1115568" y="5779008"/>
            <a:ext cx="28325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stability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 upgrade, log archival and Airflow run-metadata housekeeping implemented.</a:t>
            </a:r>
            <a:endParaRPr lang="en-US" sz="1100" dirty="0"/>
          </a:p>
        </p:txBody>
      </p:sp>
      <p:sp>
        <p:nvSpPr>
          <p:cNvPr id="80" name="Shape 68"/>
          <p:cNvSpPr/>
          <p:nvPr/>
        </p:nvSpPr>
        <p:spPr>
          <a:xfrm>
            <a:off x="4277258" y="5724144"/>
            <a:ext cx="3637178" cy="768096"/>
          </a:xfrm>
          <a:prstGeom prst="roundRect">
            <a:avLst>
              <a:gd name="adj" fmla="val 11905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81" name="Shape 69"/>
          <p:cNvSpPr/>
          <p:nvPr/>
        </p:nvSpPr>
        <p:spPr>
          <a:xfrm>
            <a:off x="4441850" y="592531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6948" y="6020410"/>
            <a:ext cx="175565" cy="175565"/>
          </a:xfrm>
          <a:prstGeom prst="rect">
            <a:avLst/>
          </a:prstGeom>
        </p:spPr>
      </p:pic>
      <p:sp>
        <p:nvSpPr>
          <p:cNvPr id="83" name="Text 70"/>
          <p:cNvSpPr txBox="1"/>
          <p:nvPr/>
        </p:nvSpPr>
        <p:spPr>
          <a:xfrm>
            <a:off x="4935626" y="5779008"/>
            <a:ext cx="28325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performance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integration improved query latency — &lt;400 ms response to the UI.</a:t>
            </a:r>
            <a:endParaRPr lang="en-US" sz="1100" dirty="0"/>
          </a:p>
        </p:txBody>
      </p:sp>
      <p:sp>
        <p:nvSpPr>
          <p:cNvPr id="84" name="Shape 71"/>
          <p:cNvSpPr/>
          <p:nvPr/>
        </p:nvSpPr>
        <p:spPr>
          <a:xfrm>
            <a:off x="8097317" y="5724144"/>
            <a:ext cx="3637178" cy="768096"/>
          </a:xfrm>
          <a:prstGeom prst="roundRect">
            <a:avLst>
              <a:gd name="adj" fmla="val 11905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85" name="Shape 72"/>
          <p:cNvSpPr/>
          <p:nvPr/>
        </p:nvSpPr>
        <p:spPr>
          <a:xfrm>
            <a:off x="8261909" y="592531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7006" y="6020410"/>
            <a:ext cx="175565" cy="175565"/>
          </a:xfrm>
          <a:prstGeom prst="rect">
            <a:avLst/>
          </a:prstGeom>
        </p:spPr>
      </p:pic>
      <p:sp>
        <p:nvSpPr>
          <p:cNvPr id="87" name="Text 73"/>
          <p:cNvSpPr txBox="1"/>
          <p:nvPr/>
        </p:nvSpPr>
        <p:spPr>
          <a:xfrm>
            <a:off x="8755685" y="5779008"/>
            <a:ext cx="28325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&amp; risk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 &amp; task-state apps decommissioned; Release Process Framework; VM15 remediation ongoing.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 w="12700">
            <a:solidFill>
              <a:srgbClr val="FBEC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· OUTLOOK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7665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— Scaling the Platform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1615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NSFR and Capital in Q3, the Orchestration + Observability pattern now extends to new calculators and self-service.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73391" y="3474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73391" y="347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H1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18143" y="3474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18143" y="347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· Q3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362895" y="3474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62895" y="347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· Q4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11277295" cy="868680"/>
          </a:xfrm>
          <a:prstGeom prst="roundRect">
            <a:avLst>
              <a:gd name="adj" fmla="val 12632"/>
            </a:avLst>
          </a:prstGeom>
          <a:solidFill>
            <a:srgbClr val="FBECEE"/>
          </a:solidFill>
          <a:ln w="12700">
            <a:solidFill>
              <a:srgbClr val="FBEC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189738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16252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71600" y="1764792"/>
            <a:ext cx="100885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END-OF-Q4 VISION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onboarding pattern at scale — Equity and SAP PAPM calculators run on ACD Airflow with observability from day one, users trigger calculators on demand, and a de-risked path to next-generation orchestration.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2834640"/>
            <a:ext cx="2668448" cy="3063240"/>
          </a:xfrm>
          <a:prstGeom prst="roundRect">
            <a:avLst>
              <a:gd name="adj" fmla="val 3427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58368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2522144" y="3017520"/>
            <a:ext cx="402336" cy="402336"/>
          </a:xfrm>
          <a:prstGeom prst="ellipse">
            <a:avLst/>
          </a:prstGeom>
          <a:solidFill>
            <a:srgbClr val="FBECEE"/>
          </a:solidFill>
          <a:ln w="12700">
            <a:solidFill>
              <a:srgbClr val="FBECE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751" y="3122127"/>
            <a:ext cx="193121" cy="193121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58368" y="3474720"/>
            <a:ext cx="226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Calculator Trigger (UI)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58368" y="3950208"/>
            <a:ext cx="2266112" cy="219456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8368" y="3950208"/>
            <a:ext cx="226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 </a:t>
            </a:r>
            <a:pPr algn="ctr" indent="0" marL="0">
              <a:buNone/>
            </a:pPr>
            <a:r>
              <a:rPr lang="en-US" sz="9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+ Orchestration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658368" y="4251960"/>
            <a:ext cx="226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and users trigger calculators directly from the UI — no engineering hand-off.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58368" y="4846320"/>
            <a:ext cx="226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658368" y="5029200"/>
            <a:ext cx="226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reruns and time-to-result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support and ops dependency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658368" y="5449824"/>
            <a:ext cx="226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 </a:t>
            </a:r>
            <a:pPr indent="0" marL="0">
              <a:buNone/>
            </a:pPr>
            <a:r>
              <a:rPr lang="en-US" sz="9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self-service triggers  ·  Manual rerun requests ↓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3326816" y="2834640"/>
            <a:ext cx="2668448" cy="3063240"/>
          </a:xfrm>
          <a:prstGeom prst="roundRect">
            <a:avLst>
              <a:gd name="adj" fmla="val 3427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3527984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29" name="Shape 25"/>
          <p:cNvSpPr/>
          <p:nvPr/>
        </p:nvSpPr>
        <p:spPr>
          <a:xfrm>
            <a:off x="5391760" y="3017520"/>
            <a:ext cx="402336" cy="402336"/>
          </a:xfrm>
          <a:prstGeom prst="ellipse">
            <a:avLst/>
          </a:prstGeom>
          <a:solidFill>
            <a:srgbClr val="FBECEE"/>
          </a:solidFill>
          <a:ln w="12700">
            <a:solidFill>
              <a:srgbClr val="FBECEE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367" y="3122127"/>
            <a:ext cx="193121" cy="193121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3527984" y="3474720"/>
            <a:ext cx="226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Attribute Calculators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3527984" y="3950208"/>
            <a:ext cx="2266112" cy="219456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527984" y="3950208"/>
            <a:ext cx="226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 </a:t>
            </a:r>
            <a:pPr algn="ctr" indent="0" marL="0">
              <a:buNone/>
            </a:pPr>
            <a:r>
              <a:rPr lang="en-US" sz="9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+ Observability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3527984" y="4251960"/>
            <a:ext cx="226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NSFR pattern: onboard Equity Attribute calculators onto ACD Airflow with Observability from day one.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3527984" y="4846320"/>
            <a:ext cx="226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36" name="Text 31"/>
          <p:cNvSpPr txBox="1"/>
          <p:nvPr/>
        </p:nvSpPr>
        <p:spPr>
          <a:xfrm>
            <a:off x="3527984" y="5029200"/>
            <a:ext cx="226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extends to a new business area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status visibility on go-live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3527984" y="5449824"/>
            <a:ext cx="226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 </a:t>
            </a:r>
            <a:pPr indent="0" marL="0">
              <a:buNone/>
            </a:pPr>
            <a:r>
              <a:rPr lang="en-US" sz="9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calculators onboarded  ·  Observability coverage %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6196432" y="2834640"/>
            <a:ext cx="2668448" cy="3063240"/>
          </a:xfrm>
          <a:prstGeom prst="roundRect">
            <a:avLst>
              <a:gd name="adj" fmla="val 3427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39" name="Text 34"/>
          <p:cNvSpPr txBox="1"/>
          <p:nvPr/>
        </p:nvSpPr>
        <p:spPr>
          <a:xfrm>
            <a:off x="6397600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40" name="Shape 35"/>
          <p:cNvSpPr/>
          <p:nvPr/>
        </p:nvSpPr>
        <p:spPr>
          <a:xfrm>
            <a:off x="8261375" y="3017520"/>
            <a:ext cx="402336" cy="402336"/>
          </a:xfrm>
          <a:prstGeom prst="ellipse">
            <a:avLst/>
          </a:prstGeom>
          <a:solidFill>
            <a:srgbClr val="FBECEE"/>
          </a:solidFill>
          <a:ln w="12700">
            <a:solidFill>
              <a:srgbClr val="FBECEE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5983" y="3122127"/>
            <a:ext cx="193121" cy="193121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6397600" y="3474720"/>
            <a:ext cx="226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PAPM Integration</a:t>
            </a:r>
            <a:endParaRPr lang="en-US" sz="1300" dirty="0"/>
          </a:p>
        </p:txBody>
      </p:sp>
      <p:sp>
        <p:nvSpPr>
          <p:cNvPr id="43" name="Shape 37"/>
          <p:cNvSpPr/>
          <p:nvPr/>
        </p:nvSpPr>
        <p:spPr>
          <a:xfrm>
            <a:off x="6397600" y="3950208"/>
            <a:ext cx="2266112" cy="219456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397600" y="3950208"/>
            <a:ext cx="226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 </a:t>
            </a:r>
            <a:pPr algn="ctr" indent="0" marL="0">
              <a:buNone/>
            </a:pPr>
            <a:r>
              <a:rPr lang="en-US" sz="9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6397600" y="4251960"/>
            <a:ext cx="226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orchestration foundation to SAP PAPM, integrating and onboarding its calculators onto ACD Airflow.</a:t>
            </a:r>
            <a:endParaRPr lang="en-US" sz="1050" dirty="0"/>
          </a:p>
        </p:txBody>
      </p:sp>
      <p:sp>
        <p:nvSpPr>
          <p:cNvPr id="46" name="Text 40"/>
          <p:cNvSpPr txBox="1"/>
          <p:nvPr/>
        </p:nvSpPr>
        <p:spPr>
          <a:xfrm>
            <a:off x="6397600" y="4846320"/>
            <a:ext cx="226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47" name="Text 41"/>
          <p:cNvSpPr txBox="1"/>
          <p:nvPr/>
        </p:nvSpPr>
        <p:spPr>
          <a:xfrm>
            <a:off x="6397600" y="5029200"/>
            <a:ext cx="226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orchestration &amp; governance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fragmented run processes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6397600" y="5449824"/>
            <a:ext cx="226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 </a:t>
            </a:r>
            <a:pPr indent="0" marL="0">
              <a:buNone/>
            </a:pPr>
            <a:r>
              <a:rPr lang="en-US" sz="9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PAPM calculators onboarded  ·  Run success rate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9066047" y="2834640"/>
            <a:ext cx="2668448" cy="3063240"/>
          </a:xfrm>
          <a:prstGeom prst="roundRect">
            <a:avLst>
              <a:gd name="adj" fmla="val 3427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50" name="Text 44"/>
          <p:cNvSpPr txBox="1"/>
          <p:nvPr/>
        </p:nvSpPr>
        <p:spPr>
          <a:xfrm>
            <a:off x="9267215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51" name="Shape 45"/>
          <p:cNvSpPr/>
          <p:nvPr/>
        </p:nvSpPr>
        <p:spPr>
          <a:xfrm>
            <a:off x="11130991" y="3017520"/>
            <a:ext cx="402336" cy="402336"/>
          </a:xfrm>
          <a:prstGeom prst="ellipse">
            <a:avLst/>
          </a:prstGeom>
          <a:solidFill>
            <a:srgbClr val="FBECEE"/>
          </a:solidFill>
          <a:ln w="12700">
            <a:solidFill>
              <a:srgbClr val="FBECEE"/>
            </a:solidFill>
            <a:prstDash val="solid"/>
          </a:ln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5599" y="3122127"/>
            <a:ext cx="193121" cy="193121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9267215" y="3474720"/>
            <a:ext cx="226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Modernisation</a:t>
            </a:r>
            <a:endParaRPr lang="en-US" sz="1300" dirty="0"/>
          </a:p>
        </p:txBody>
      </p:sp>
      <p:sp>
        <p:nvSpPr>
          <p:cNvPr id="54" name="Shape 47"/>
          <p:cNvSpPr/>
          <p:nvPr/>
        </p:nvSpPr>
        <p:spPr>
          <a:xfrm>
            <a:off x="9267215" y="3950208"/>
            <a:ext cx="2266112" cy="219456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9267215" y="3950208"/>
            <a:ext cx="226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 </a:t>
            </a:r>
            <a:pPr algn="ctr" indent="0" marL="0">
              <a:buNone/>
            </a:pPr>
            <a:r>
              <a:rPr lang="en-US" sz="9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56" name="Text 49"/>
          <p:cNvSpPr txBox="1"/>
          <p:nvPr/>
        </p:nvSpPr>
        <p:spPr>
          <a:xfrm>
            <a:off x="9267215" y="4251960"/>
            <a:ext cx="226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upgrade discovery and analysis to define the target orchestration path.</a:t>
            </a:r>
            <a:endParaRPr lang="en-US" sz="1050" dirty="0"/>
          </a:p>
        </p:txBody>
      </p:sp>
      <p:sp>
        <p:nvSpPr>
          <p:cNvPr id="57" name="Text 50"/>
          <p:cNvSpPr txBox="1"/>
          <p:nvPr/>
        </p:nvSpPr>
        <p:spPr>
          <a:xfrm>
            <a:off x="9267215" y="4846320"/>
            <a:ext cx="226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58" name="Text 51"/>
          <p:cNvSpPr txBox="1"/>
          <p:nvPr/>
        </p:nvSpPr>
        <p:spPr>
          <a:xfrm>
            <a:off x="9267215" y="5029200"/>
            <a:ext cx="226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De-risked, decision-ready upgrade plan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security &amp; supportability</a:t>
            </a:r>
            <a:endParaRPr lang="en-US" sz="1000" dirty="0"/>
          </a:p>
        </p:txBody>
      </p:sp>
      <p:sp>
        <p:nvSpPr>
          <p:cNvPr id="59" name="Text 52"/>
          <p:cNvSpPr txBox="1"/>
          <p:nvPr/>
        </p:nvSpPr>
        <p:spPr>
          <a:xfrm>
            <a:off x="9267215" y="5449824"/>
            <a:ext cx="226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 </a:t>
            </a:r>
            <a:pPr indent="0" marL="0">
              <a:buNone/>
            </a:pPr>
            <a:r>
              <a:rPr lang="en-US" sz="9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impact analysis complete  ·  Upgrade roadmap approved</a:t>
            </a:r>
            <a:endParaRPr lang="en-US" sz="850" dirty="0"/>
          </a:p>
        </p:txBody>
      </p:sp>
      <p:sp>
        <p:nvSpPr>
          <p:cNvPr id="60" name="Text 53"/>
          <p:cNvSpPr txBox="1"/>
          <p:nvPr/>
        </p:nvSpPr>
        <p:spPr>
          <a:xfrm>
            <a:off x="457200" y="6062472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/ ONGOING: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&amp; LiFE Airflow platform support, production incident management and VM15 remediation continue. Live SLA alerting integration with BigPanda is a planned future deliverable.</a:t>
            </a:r>
            <a:endParaRPr lang="en-US" sz="950" dirty="0"/>
          </a:p>
        </p:txBody>
      </p:sp>
      <p:sp>
        <p:nvSpPr>
          <p:cNvPr id="61" name="Text 54"/>
          <p:cNvSpPr txBox="1"/>
          <p:nvPr/>
        </p:nvSpPr>
        <p:spPr>
          <a:xfrm>
            <a:off x="457200" y="6291072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scope is planned. In the spirit of agile delivery, sequencing may move based on progress, dependency readiness, risks and BRP decisions.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Runtime POD — Delivery Review &amp; Q4 Outlook</dc:title>
  <dc:subject>PptxGenJS Presentation</dc:subject>
  <dc:creator>PptxGenJS</dc:creator>
  <cp:lastModifiedBy>PptxGenJS</cp:lastModifiedBy>
  <cp:revision>1</cp:revision>
  <dcterms:created xsi:type="dcterms:W3CDTF">2026-09-23T05:15:02Z</dcterms:created>
  <dcterms:modified xsi:type="dcterms:W3CDTF">2026-09-23T05:15:02Z</dcterms:modified>
</cp:coreProperties>
</file>
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Runtime POD  —  Delivery Highlights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against Q3 priorities, and key business outcomes.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12898" cy="9601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9601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22928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90%+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83664"/>
            <a:ext cx="229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 auto-detection accuracy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44418" y="1371600"/>
            <a:ext cx="2612898" cy="9601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9" name="Shape 7"/>
          <p:cNvSpPr/>
          <p:nvPr/>
        </p:nvSpPr>
        <p:spPr>
          <a:xfrm>
            <a:off x="3344418" y="1371600"/>
            <a:ext cx="54864" cy="9601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7298" y="1463040"/>
            <a:ext cx="22928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50–70% ↓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527298" y="1883664"/>
            <a:ext cx="229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triage effort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31636" y="1371600"/>
            <a:ext cx="2612898" cy="9601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6231636" y="1371600"/>
            <a:ext cx="54864" cy="9601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14516" y="1463040"/>
            <a:ext cx="22928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≥99.9%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14516" y="1883664"/>
            <a:ext cx="229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availability; 25–30% fewer P1/P2 incidents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18854" y="1371600"/>
            <a:ext cx="2612898" cy="96012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7" name="Shape 15"/>
          <p:cNvSpPr/>
          <p:nvPr/>
        </p:nvSpPr>
        <p:spPr>
          <a:xfrm>
            <a:off x="9118854" y="1371600"/>
            <a:ext cx="54864" cy="9601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01734" y="1463040"/>
            <a:ext cx="22928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20–30% ↓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9301734" y="1883664"/>
            <a:ext cx="22928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effort, with ~10–20% cost savings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5500116" cy="3840480"/>
          </a:xfrm>
          <a:prstGeom prst="rect">
            <a:avLst/>
          </a:prstGeom>
          <a:ln w="12700">
            <a:solidFill>
              <a:srgbClr val="D7D7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606040"/>
            <a:ext cx="54864" cy="38404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2724912"/>
            <a:ext cx="5042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BENEFITS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2990088"/>
            <a:ext cx="50429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economic and operational outcomes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291840"/>
            <a:ext cx="504291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97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97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90%+ SLA breach auto-detection and alerting; 50–70% reduction in manual triage effort.</a:t>
            </a:r>
            <a:endParaRPr lang="en-US" sz="970" dirty="0"/>
          </a:p>
          <a:p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97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stability</a:t>
            </a:r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97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PostgreSQL upgrade, VM15 remediation and infra optimization deliver ≥99.9% availability, 25–30% fewer P1/P2 incidents, and zero EoL-related outages.</a:t>
            </a:r>
            <a:endParaRPr lang="en-US" sz="970" dirty="0"/>
          </a:p>
          <a:p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97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97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Redis caching enables &lt;400ms latency, faster dashboards, and ≥90% of queries within SLA.</a:t>
            </a:r>
            <a:endParaRPr lang="en-US" sz="970" dirty="0"/>
          </a:p>
          <a:p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97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/ efficiency</a:t>
            </a:r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97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IPV and task-state decommissioning and multi-tenant RPF achieve flat infra cost per tenant, 20–30% lower release effort, and ~10–20% cost savings.</a:t>
            </a:r>
            <a:endParaRPr lang="en-US" sz="970" dirty="0"/>
          </a:p>
          <a:p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97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NSFR automation</a:t>
            </a:r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97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All NSFR calculators on-boarded and fully automated.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6231636" y="2606040"/>
            <a:ext cx="5500116" cy="3840480"/>
          </a:xfrm>
          <a:prstGeom prst="rect">
            <a:avLst/>
          </a:prstGeom>
          <a:ln w="12700">
            <a:solidFill>
              <a:srgbClr val="D7D7D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1636" y="2606040"/>
            <a:ext cx="54864" cy="38404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60236" y="2724912"/>
            <a:ext cx="5042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BENEFITS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60236" y="2990088"/>
            <a:ext cx="50429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Qualitative, organisational and trust-building outcomes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460236" y="3291840"/>
            <a:ext cx="5042916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97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explainability</a:t>
            </a:r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97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stage-based SLA model with cross-team attribution gives business stakeholders a clear, stage-by-stage view of performance.</a:t>
            </a:r>
            <a:endParaRPr lang="en-US" sz="970" dirty="0"/>
          </a:p>
          <a:p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97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confidence</a:t>
            </a:r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97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Proactive alerting combined with faster, consolidated dashboards builds trust in platform reliability.</a:t>
            </a:r>
            <a:endParaRPr lang="en-US" sz="970" dirty="0"/>
          </a:p>
          <a:p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97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transparency</a:t>
            </a:r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97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Cross-team SLA attribution clearly defines accountability chains.</a:t>
            </a:r>
            <a:endParaRPr lang="en-US" sz="970" dirty="0"/>
          </a:p>
          <a:p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97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support model</a:t>
            </a:r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97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multi-tenant release process framework reduces cross-team coordination overhead.</a:t>
            </a:r>
            <a:endParaRPr lang="en-US" sz="970" dirty="0"/>
          </a:p>
          <a:p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97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agility</a:t>
            </a:r>
            <a:pPr indent="0" marL="0">
              <a:lnSpc>
                <a:spcPct val="108000"/>
              </a:lnSpc>
              <a:spcAft>
                <a:spcPts val="700"/>
              </a:spcAft>
              <a:buNone/>
            </a:pPr>
            <a:r>
              <a:rPr lang="en-US" sz="97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Workflow modernization phase-1, paired with infrastructure performance gains, accelerates future delivery cycles.</a:t>
            </a:r>
            <a:endParaRPr lang="en-US" sz="97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POD  •  Q3 2026 Business Review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11365992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  —  Monthly Delivery Recap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releases delivered, with business outcomes, scope and benefit-realisation metrics.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32004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91640"/>
            <a:ext cx="11274552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371600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121408" y="137160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864608" y="1371600"/>
            <a:ext cx="4096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SCOPE / OUTPUT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070848" y="1371600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METRIC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1764792"/>
            <a:ext cx="135331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Proactive Monitoring &amp; Foundation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121408" y="1764792"/>
            <a:ext cx="254203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SLA monitoring went live; platform foundations strengthened (performance, security, modernization)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64608" y="1764792"/>
            <a:ext cx="400507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—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integration (Amplifi UI performance &amp; low latency); live SLA breach detection &amp; alerting; NSFR Performance Card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—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Tenant-specific entitlements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NOPE —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PostgreSQL v14→v17 migration; VM15 remediation (ongoing)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—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resource optimization via key metrics analysis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9070848" y="1764792"/>
            <a:ext cx="252374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 UI query latency &lt;300ms achieved</a:t>
            </a:r>
            <a:endParaRPr lang="en-US" sz="9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NSFR calculator perf/status pages live</a:t>
            </a:r>
            <a:endParaRPr lang="en-US" sz="9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SLA breach detection</a:t>
            </a:r>
            <a:endParaRPr lang="en-US" sz="9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EoL avoided</a:t>
            </a:r>
            <a:endParaRPr lang="en-US" sz="9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VM15 vulnerabilities closed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11274552" cy="1143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" y="3182112"/>
            <a:ext cx="135331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&amp; Scale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121408" y="3182112"/>
            <a:ext cx="254203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 decommissioned; LnF dashboard live; multi-tenant release process established; Airflow modernization discovery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864608" y="3182112"/>
            <a:ext cx="40050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—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integration with Observability (decommission IPV app); LnF Amplifi UI Dashboard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/ Airflow —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resource optimization (continued); Airflow modernization — Correlation Service Integration (discovery phase); Release Process Framework for multi-tenant releases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070848" y="3182112"/>
            <a:ext cx="2523744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 decommissioned</a:t>
            </a:r>
            <a:endParaRPr lang="en-US" sz="9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task-state app decommissioned</a:t>
            </a:r>
            <a:endParaRPr lang="en-US" sz="9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NSFR calculators onboarded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4325112"/>
            <a:ext cx="13533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100" dirty="0"/>
          </a:p>
          <a:p>
            <a:pPr indent="0" marL="0">
              <a:buNone/>
            </a:pPr>
            <a:r>
              <a:rPr lang="en-US" sz="9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Maturity &amp; Airflow Modernization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121408" y="4325112"/>
            <a:ext cx="25420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dashboards consolidated; Airflow modernization phase-1 underway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864608" y="4325112"/>
            <a:ext cx="400507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—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duration-based SLA redesign with cross-team attribution; LnF Legacy Dashboard integration; new NSFR calculator dashboards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—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Modernization phase-1 — Trigger Service / Control DAG redesign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NOPE — 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VM15 remediation (ongoing)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9070848" y="4325112"/>
            <a:ext cx="252374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duration-based SLA live</a:t>
            </a:r>
            <a:endParaRPr lang="en-US" sz="9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NSFR calculators on-boarded</a:t>
            </a:r>
            <a:endParaRPr lang="en-US" sz="9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modernization phase-1 milestone hit</a:t>
            </a:r>
            <a:endParaRPr lang="en-US" sz="9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9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closure rate improved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5623560"/>
            <a:ext cx="11274552" cy="36576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5623560"/>
            <a:ext cx="54864" cy="3657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56235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 / ONGOING:  </a:t>
            </a:r>
            <a:pPr indent="0" marL="0">
              <a:buNone/>
            </a:pPr>
            <a:r>
              <a:rPr lang="en-US" sz="95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Airflow Platform support &amp; production incident management  •  LiFE Airflow Platform support  —  embedded across all releases.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POD  •  Q3 2026 Business Review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1365992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  —  Forward Priorities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focus areas building on Q3 delivery, subject to sequencing and dependency readiness.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500116" cy="22402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54864" cy="22402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600200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61872" y="1581912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 Calculator Trigger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94560"/>
            <a:ext cx="49514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UI capability enabling controllers and users to directly trigger calculators.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4951476" cy="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907792"/>
            <a:ext cx="49514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turnaround and less dependency on batch scheduling, improving user self-service.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31636" y="1417320"/>
            <a:ext cx="5500116" cy="22402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31636" y="1417320"/>
            <a:ext cx="54864" cy="22402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Shape 12"/>
          <p:cNvSpPr/>
          <p:nvPr/>
        </p:nvSpPr>
        <p:spPr>
          <a:xfrm>
            <a:off x="6460236" y="1600200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60236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036308" y="1581912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PAPM Integration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05956" y="2194560"/>
            <a:ext cx="49514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PAPM calculator integration and onboarding to ACD Airflow.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05956" y="2834640"/>
            <a:ext cx="4951476" cy="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5956" y="2907792"/>
            <a:ext cx="49514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automation coverage to a new calculator family, cutting manual reconciliation effort.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5500116" cy="224028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931920"/>
            <a:ext cx="54864" cy="22402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4114800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261872" y="4096512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Modernization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709160"/>
            <a:ext cx="49514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upgrade discovery and analysis for the platform's next modernization phase.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5349240"/>
            <a:ext cx="4951476" cy="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5422392"/>
            <a:ext cx="49514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Lays the groundwork for a more resilient, scalable orchestration platform.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231636" y="3931920"/>
            <a:ext cx="5500116" cy="22402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Shape 27"/>
          <p:cNvSpPr/>
          <p:nvPr/>
        </p:nvSpPr>
        <p:spPr>
          <a:xfrm>
            <a:off x="6231636" y="3931920"/>
            <a:ext cx="54864" cy="22402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0" name="Shape 28"/>
          <p:cNvSpPr/>
          <p:nvPr/>
        </p:nvSpPr>
        <p:spPr>
          <a:xfrm>
            <a:off x="6460236" y="4114800"/>
            <a:ext cx="420624" cy="42062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60236" y="4114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036308" y="4096512"/>
            <a:ext cx="4448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Stability &amp; NOPE Remediation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505956" y="4709160"/>
            <a:ext cx="49514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D3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production stability hardening and NOPE remediation activity.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05956" y="5349240"/>
            <a:ext cx="4951476" cy="0"/>
          </a:xfrm>
          <a:prstGeom prst="line">
            <a:avLst/>
          </a:prstGeom>
          <a:noFill/>
          <a:ln w="9525">
            <a:solidFill>
              <a:srgbClr val="D7D7D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505956" y="5422392"/>
            <a:ext cx="49514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Sustains platform reliability and regulatory posture, minimizing operational risk.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3093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All Q4 priorities above are planned. In the spirit of agile delivery, sequencing may move based on progress, dependency readiness, risks, and BRP decisions.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537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POD  •  Q3 2026 Business Review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11365992" y="65379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2026-09-23T06:13:08Z</dcterms:created>
  <dcterms:modified xsi:type="dcterms:W3CDTF">2026-09-23T06:13:08Z</dcterms:modified>
</cp:coreProperties>
</file>